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66" r:id="rId6"/>
    <p:sldId id="267" r:id="rId7"/>
    <p:sldId id="268" r:id="rId8"/>
    <p:sldId id="273" r:id="rId9"/>
    <p:sldId id="274" r:id="rId10"/>
    <p:sldId id="275" r:id="rId11"/>
    <p:sldId id="276" r:id="rId12"/>
    <p:sldId id="277" r:id="rId13"/>
    <p:sldId id="269" r:id="rId14"/>
    <p:sldId id="270" r:id="rId15"/>
    <p:sldId id="271" r:id="rId16"/>
    <p:sldId id="272" r:id="rId17"/>
    <p:sldId id="278" r:id="rId18"/>
    <p:sldId id="279" r:id="rId19"/>
    <p:sldId id="280" r:id="rId20"/>
    <p:sldId id="281" r:id="rId21"/>
    <p:sldId id="282" r:id="rId22"/>
    <p:sldId id="283" r:id="rId23"/>
    <p:sldId id="289" r:id="rId24"/>
    <p:sldId id="287" r:id="rId25"/>
    <p:sldId id="284" r:id="rId26"/>
    <p:sldId id="285" r:id="rId27"/>
    <p:sldId id="286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9" r:id="rId37"/>
    <p:sldId id="298" r:id="rId38"/>
    <p:sldId id="300" r:id="rId39"/>
    <p:sldId id="301" r:id="rId40"/>
    <p:sldId id="302" r:id="rId41"/>
    <p:sldId id="305" r:id="rId42"/>
    <p:sldId id="307" r:id="rId43"/>
    <p:sldId id="308" r:id="rId44"/>
    <p:sldId id="262" r:id="rId45"/>
    <p:sldId id="260" r:id="rId46"/>
    <p:sldId id="26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47C757F0-AA23-46BE-9311-EA432CDEEA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engagment </a:t>
          </a:r>
          <a:r>
            <a:rPr lang="en-US"/>
            <a:t/>
          </a:r>
          <a:endParaRPr lang="en-US"/>
        </a:p>
      </dgm:t>
    </dgm:pt>
    <dgm:pt modelId="{AB39B06D-FE6C-48B2-B5B4-77CD0C8CF7AD}" cxnId="{903D6B30-E759-4908-8B8B-97F67B18D982}" type="parTrans">
      <dgm:prSet/>
      <dgm:spPr/>
      <dgm:t>
        <a:bodyPr/>
        <a:p>
          <a:endParaRPr lang="en-US"/>
        </a:p>
      </dgm:t>
    </dgm:pt>
    <dgm:pt modelId="{DF0D1C21-B79E-4875-B7FA-EF183CB48B88}" cxnId="{903D6B30-E759-4908-8B8B-97F67B18D982}" type="sibTrans">
      <dgm:prSet/>
      <dgm:spPr/>
      <dgm:t>
        <a:bodyPr/>
        <a:p>
          <a:endParaRPr lang="en-US"/>
        </a:p>
      </dgm:t>
    </dgm:pt>
    <dgm:pt modelId="{B29BF47F-FB6F-4BB3-8B1F-25C507DDACF5}" type="asst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</a:t>
          </a:r>
          <a:endParaRPr lang="en-US"/>
        </a:p>
      </dgm:t>
    </dgm:pt>
    <dgm:pt modelId="{4294CB15-5EAF-442A-BADC-24588A60ECFF}" cxnId="{6B600FD8-938B-46BD-8505-B7EB32E60892}" type="parTrans">
      <dgm:prSet/>
      <dgm:spPr/>
      <dgm:t>
        <a:bodyPr/>
        <a:p>
          <a:endParaRPr lang="en-US"/>
        </a:p>
      </dgm:t>
    </dgm:pt>
    <dgm:pt modelId="{4FBEC948-3FA9-4375-B83A-B44348E5F34D}" cxnId="{6B600FD8-938B-46BD-8505-B7EB32E60892}" type="sibTrans">
      <dgm:prSet/>
      <dgm:spPr/>
      <dgm:t>
        <a:bodyPr/>
        <a:p>
          <a:endParaRPr lang="en-US"/>
        </a:p>
      </dgm:t>
    </dgm:pt>
    <dgm:pt modelId="{12714FC6-8B41-47E5-91DD-F02D34D23B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reel about diabetes</a:t>
          </a:r>
          <a:endParaRPr lang="en-US"/>
        </a:p>
      </dgm:t>
    </dgm:pt>
    <dgm:pt modelId="{EACD17F5-D793-4A43-B489-D1804D50CFEF}" cxnId="{91369EFE-2A34-436F-94DE-D61D763B02C6}" type="parTrans">
      <dgm:prSet/>
      <dgm:spPr/>
      <dgm:t>
        <a:bodyPr/>
        <a:p>
          <a:endParaRPr lang="en-US"/>
        </a:p>
      </dgm:t>
    </dgm:pt>
    <dgm:pt modelId="{FA45D93F-0724-4936-AA45-E6762732A19D}" cxnId="{91369EFE-2A34-436F-94DE-D61D763B02C6}" type="sibTrans">
      <dgm:prSet/>
      <dgm:spPr/>
      <dgm:t>
        <a:bodyPr/>
        <a:p>
          <a:endParaRPr lang="en-US"/>
        </a:p>
      </dgm:t>
    </dgm:pt>
    <dgm:pt modelId="{4EC42421-831D-4CD3-8215-2AF4300F9C0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post about care for diabetic eye </a:t>
          </a:r>
          <a:endParaRPr lang="en-US"/>
        </a:p>
      </dgm:t>
    </dgm:pt>
    <dgm:pt modelId="{8D5FB264-0A5C-4C3A-85B7-453D9BD837DF}" cxnId="{22E7DCDD-5CA0-4652-A525-DC5C10456139}" type="parTrans">
      <dgm:prSet/>
      <dgm:spPr/>
      <dgm:t>
        <a:bodyPr/>
        <a:p>
          <a:endParaRPr lang="en-US"/>
        </a:p>
      </dgm:t>
    </dgm:pt>
    <dgm:pt modelId="{A1825131-D805-48C8-BFCE-E45C02E6F5CE}" cxnId="{22E7DCDD-5CA0-4652-A525-DC5C10456139}" type="sibTrans">
      <dgm:prSet/>
      <dgm:spPr/>
      <dgm:t>
        <a:bodyPr/>
        <a:p>
          <a:endParaRPr lang="en-US"/>
        </a:p>
      </dgm:t>
    </dgm:pt>
    <dgm:pt modelId="{CF717C8A-B40B-4AFF-BF49-65ABB7DF81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snack post about diabetic food </a:t>
          </a:r>
          <a:endParaRPr lang="en-US"/>
        </a:p>
      </dgm:t>
    </dgm:pt>
    <dgm:pt modelId="{CCF68ADE-40B6-47D0-93C1-88EC13ADC8AC}" cxnId="{B28C59C4-3DD6-4FB6-88E5-1D2B0278BBD5}" type="parTrans">
      <dgm:prSet/>
      <dgm:spPr/>
      <dgm:t>
        <a:bodyPr/>
        <a:p>
          <a:endParaRPr lang="en-US"/>
        </a:p>
      </dgm:t>
    </dgm:pt>
    <dgm:pt modelId="{630D3E0B-D1D7-4E1A-8193-515AA5E1866F}" cxnId="{B28C59C4-3DD6-4FB6-88E5-1D2B0278BBD5}" type="sibTrans">
      <dgm:prSet/>
      <dgm:spPr/>
      <dgm:t>
        <a:bodyPr/>
        <a:p>
          <a:endParaRPr lang="en-US"/>
        </a:p>
      </dgm:t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4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3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4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3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4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3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  <dgm:pt modelId="{7CC60CE2-51D0-47DE-A469-FE4884597341}" type="pres">
      <dgm:prSet presAssocID="{4294CB15-5EAF-442A-BADC-24588A60ECFF}" presName="Name111" presStyleLbl="parChTrans1D2" presStyleIdx="3" presStyleCnt="4"/>
      <dgm:spPr/>
    </dgm:pt>
    <dgm:pt modelId="{2C28615C-654F-4C05-9383-C72EAED46321}" type="pres">
      <dgm:prSet presAssocID="{B29BF47F-FB6F-4BB3-8B1F-25C507DDACF5}" presName="hierRoot3" presStyleCnt="0">
        <dgm:presLayoutVars>
          <dgm:hierBranch val="init"/>
        </dgm:presLayoutVars>
      </dgm:prSet>
      <dgm:spPr/>
    </dgm:pt>
    <dgm:pt modelId="{531B400A-09FB-4AC6-91D5-6C58DB555D6A}" type="pres">
      <dgm:prSet presAssocID="{B29BF47F-FB6F-4BB3-8B1F-25C507DDACF5}" presName="rootComposite3" presStyleCnt="0"/>
      <dgm:spPr/>
    </dgm:pt>
    <dgm:pt modelId="{15F46F7C-8483-49B2-9069-BD47518FA3C5}" type="pres">
      <dgm:prSet presAssocID="{B29BF47F-FB6F-4BB3-8B1F-25C507DDACF5}" presName="rootText3" presStyleLbl="asst1" presStyleIdx="0" presStyleCnt="1">
        <dgm:presLayoutVars>
          <dgm:chPref val="3"/>
        </dgm:presLayoutVars>
      </dgm:prSet>
      <dgm:spPr/>
    </dgm:pt>
    <dgm:pt modelId="{84CA6990-2D5D-47C3-9020-DF2944DEADCF}" type="pres">
      <dgm:prSet presAssocID="{B29BF47F-FB6F-4BB3-8B1F-25C507DDACF5}" presName="rootConnector3" presStyleCnt="0"/>
      <dgm:spPr/>
    </dgm:pt>
    <dgm:pt modelId="{0851F80F-8C6D-4400-A85F-BC390C21E4EE}" type="pres">
      <dgm:prSet presAssocID="{B29BF47F-FB6F-4BB3-8B1F-25C507DDACF5}" presName="hierChild6" presStyleCnt="0"/>
      <dgm:spPr/>
    </dgm:pt>
    <dgm:pt modelId="{3025C0A7-DA6F-4394-8167-7956EFF162F0}" type="pres">
      <dgm:prSet presAssocID="{B29BF47F-FB6F-4BB3-8B1F-25C507DDACF5}" presName="hierChild7" presStyleCnt="0"/>
      <dgm:spPr/>
    </dgm:pt>
  </dgm:ptLst>
  <dgm:cxnLst>
    <dgm:cxn modelId="{903D6B30-E759-4908-8B8B-97F67B18D982}" srcId="{A77D31B3-3808-4FBA-8FA4-CC8D448A173E}" destId="{47C757F0-AA23-46BE-9311-EA432CDEEAA1}" srcOrd="0" destOrd="0" parTransId="{AB39B06D-FE6C-48B2-B5B4-77CD0C8CF7AD}" sibTransId="{DF0D1C21-B79E-4875-B7FA-EF183CB48B88}"/>
    <dgm:cxn modelId="{6B600FD8-938B-46BD-8505-B7EB32E60892}" srcId="{47C757F0-AA23-46BE-9311-EA432CDEEAA1}" destId="{B29BF47F-FB6F-4BB3-8B1F-25C507DDACF5}" srcOrd="0" destOrd="0" parTransId="{4294CB15-5EAF-442A-BADC-24588A60ECFF}" sibTransId="{4FBEC948-3FA9-4375-B83A-B44348E5F34D}"/>
    <dgm:cxn modelId="{91369EFE-2A34-436F-94DE-D61D763B02C6}" srcId="{47C757F0-AA23-46BE-9311-EA432CDEEAA1}" destId="{12714FC6-8B41-47E5-91DD-F02D34D23B93}" srcOrd="1" destOrd="0" parTransId="{EACD17F5-D793-4A43-B489-D1804D50CFEF}" sibTransId="{FA45D93F-0724-4936-AA45-E6762732A19D}"/>
    <dgm:cxn modelId="{22E7DCDD-5CA0-4652-A525-DC5C10456139}" srcId="{47C757F0-AA23-46BE-9311-EA432CDEEAA1}" destId="{4EC42421-831D-4CD3-8215-2AF4300F9C01}" srcOrd="2" destOrd="0" parTransId="{8D5FB264-0A5C-4C3A-85B7-453D9BD837DF}" sibTransId="{A1825131-D805-48C8-BFCE-E45C02E6F5CE}"/>
    <dgm:cxn modelId="{B28C59C4-3DD6-4FB6-88E5-1D2B0278BBD5}" srcId="{47C757F0-AA23-46BE-9311-EA432CDEEAA1}" destId="{CF717C8A-B40B-4AFF-BF49-65ABB7DF8190}" srcOrd="3" destOrd="0" parTransId="{CCF68ADE-40B6-47D0-93C1-88EC13ADC8AC}" sibTransId="{630D3E0B-D1D7-4E1A-8193-515AA5E1866F}"/>
    <dgm:cxn modelId="{256E5586-2376-4368-82B1-D8DE6F76706B}" type="presOf" srcId="{A77D31B3-3808-4FBA-8FA4-CC8D448A173E}" destId="{E498DC9C-C5AC-4482-A26F-3B99DC5D79F0}" srcOrd="0" destOrd="0" presId="urn:microsoft.com/office/officeart/2005/8/layout/orgChart1"/>
    <dgm:cxn modelId="{8A822463-BC3E-4DEC-A42D-E1B5A41EB522}" type="presParOf" srcId="{E498DC9C-C5AC-4482-A26F-3B99DC5D79F0}" destId="{F728C3E8-5128-4BB6-90CC-A86769ECE335}" srcOrd="0" destOrd="0" presId="urn:microsoft.com/office/officeart/2005/8/layout/orgChart1"/>
    <dgm:cxn modelId="{6F945A98-AF72-4114-96F8-620F084467B2}" type="presParOf" srcId="{F728C3E8-5128-4BB6-90CC-A86769ECE335}" destId="{79147750-B6BF-43FD-83A0-7ACDC9B53EFF}" srcOrd="0" destOrd="0" presId="urn:microsoft.com/office/officeart/2005/8/layout/orgChart1"/>
    <dgm:cxn modelId="{086D0AEA-BDC0-428A-B672-ADD19D5AE4C7}" type="presOf" srcId="{47C757F0-AA23-46BE-9311-EA432CDEEAA1}" destId="{79147750-B6BF-43FD-83A0-7ACDC9B53EFF}" srcOrd="0" destOrd="0" presId="urn:microsoft.com/office/officeart/2005/8/layout/orgChart1"/>
    <dgm:cxn modelId="{CFF0D28B-8C30-4EEB-A91D-7A453061030A}" type="presParOf" srcId="{79147750-B6BF-43FD-83A0-7ACDC9B53EFF}" destId="{AE79172D-D441-42BB-84EA-E3D989670DED}" srcOrd="0" destOrd="0" presId="urn:microsoft.com/office/officeart/2005/8/layout/orgChart1"/>
    <dgm:cxn modelId="{0D4DB403-D8E6-4D8D-AAFC-63EE3FDEF192}" type="presOf" srcId="{47C757F0-AA23-46BE-9311-EA432CDEEAA1}" destId="{AE79172D-D441-42BB-84EA-E3D989670DED}" srcOrd="0" destOrd="0" presId="urn:microsoft.com/office/officeart/2005/8/layout/orgChart1"/>
    <dgm:cxn modelId="{1E103684-FBCE-4E68-AAE6-E47F3B1A8F4F}" type="presParOf" srcId="{79147750-B6BF-43FD-83A0-7ACDC9B53EFF}" destId="{86420519-308D-4A6A-8FEA-6FB2E39BA448}" srcOrd="1" destOrd="0" presId="urn:microsoft.com/office/officeart/2005/8/layout/orgChart1"/>
    <dgm:cxn modelId="{DC7138F2-1ADF-458E-BEFB-79539C6C7FC8}" type="presOf" srcId="{47C757F0-AA23-46BE-9311-EA432CDEEAA1}" destId="{86420519-308D-4A6A-8FEA-6FB2E39BA448}" srcOrd="0" destOrd="0" presId="urn:microsoft.com/office/officeart/2005/8/layout/orgChart1"/>
    <dgm:cxn modelId="{95FEC0BF-B176-412E-89C8-F391FD7B5BAF}" type="presParOf" srcId="{F728C3E8-5128-4BB6-90CC-A86769ECE335}" destId="{9A0FF10C-81C7-47CD-A320-768F2009480B}" srcOrd="1" destOrd="0" presId="urn:microsoft.com/office/officeart/2005/8/layout/orgChart1"/>
    <dgm:cxn modelId="{3379131E-454A-4B32-8EFB-4E8F071592D3}" type="presParOf" srcId="{9A0FF10C-81C7-47CD-A320-768F2009480B}" destId="{6A259130-4455-44E0-969B-948D1249687E}" srcOrd="0" destOrd="1" presId="urn:microsoft.com/office/officeart/2005/8/layout/orgChart1"/>
    <dgm:cxn modelId="{FD7B574A-0F12-4C36-961B-39392C76BC13}" type="presOf" srcId="{EACD17F5-D793-4A43-B489-D1804D50CFEF}" destId="{6A259130-4455-44E0-969B-948D1249687E}" srcOrd="0" destOrd="0" presId="urn:microsoft.com/office/officeart/2005/8/layout/orgChart1"/>
    <dgm:cxn modelId="{CCF13EEB-FD26-485D-ACC3-70F257CD3487}" type="presParOf" srcId="{9A0FF10C-81C7-47CD-A320-768F2009480B}" destId="{D6C5C065-A308-417C-8ECC-04FC2BEC646C}" srcOrd="1" destOrd="1" presId="urn:microsoft.com/office/officeart/2005/8/layout/orgChart1"/>
    <dgm:cxn modelId="{EDB4D442-146F-401B-A667-52342821B703}" type="presParOf" srcId="{D6C5C065-A308-417C-8ECC-04FC2BEC646C}" destId="{E36491EF-5019-46FD-BC82-1BD579B9EE0E}" srcOrd="0" destOrd="1" presId="urn:microsoft.com/office/officeart/2005/8/layout/orgChart1"/>
    <dgm:cxn modelId="{8CC5D759-1649-4BB2-BAD2-C2BECCAAF574}" type="presOf" srcId="{12714FC6-8B41-47E5-91DD-F02D34D23B93}" destId="{E36491EF-5019-46FD-BC82-1BD579B9EE0E}" srcOrd="0" destOrd="0" presId="urn:microsoft.com/office/officeart/2005/8/layout/orgChart1"/>
    <dgm:cxn modelId="{FFB57330-A81F-42A7-94FD-5BFA62488C61}" type="presParOf" srcId="{E36491EF-5019-46FD-BC82-1BD579B9EE0E}" destId="{43B7C837-49D6-40CE-BBAB-953D9E4BA7ED}" srcOrd="0" destOrd="0" presId="urn:microsoft.com/office/officeart/2005/8/layout/orgChart1"/>
    <dgm:cxn modelId="{CA79DFCE-2FC1-48E5-90EC-7353F3A4D81D}" type="presOf" srcId="{12714FC6-8B41-47E5-91DD-F02D34D23B93}" destId="{43B7C837-49D6-40CE-BBAB-953D9E4BA7ED}" srcOrd="0" destOrd="0" presId="urn:microsoft.com/office/officeart/2005/8/layout/orgChart1"/>
    <dgm:cxn modelId="{D5A4531A-46C0-4240-B6E3-B8E21CAA2716}" type="presParOf" srcId="{E36491EF-5019-46FD-BC82-1BD579B9EE0E}" destId="{9A037140-9B69-4B9F-A134-F2F2EB0F2E32}" srcOrd="1" destOrd="0" presId="urn:microsoft.com/office/officeart/2005/8/layout/orgChart1"/>
    <dgm:cxn modelId="{616CE52A-C0FE-4150-B5CC-92DDF23860B5}" type="presOf" srcId="{12714FC6-8B41-47E5-91DD-F02D34D23B93}" destId="{9A037140-9B69-4B9F-A134-F2F2EB0F2E32}" srcOrd="0" destOrd="0" presId="urn:microsoft.com/office/officeart/2005/8/layout/orgChart1"/>
    <dgm:cxn modelId="{720CF687-3F24-4ABD-8716-913C57877135}" type="presParOf" srcId="{D6C5C065-A308-417C-8ECC-04FC2BEC646C}" destId="{FA37AA5D-87C2-47F6-9B72-B753C073E744}" srcOrd="1" destOrd="1" presId="urn:microsoft.com/office/officeart/2005/8/layout/orgChart1"/>
    <dgm:cxn modelId="{4B7A01B4-360B-47F3-8C36-BFA629748884}" type="presParOf" srcId="{D6C5C065-A308-417C-8ECC-04FC2BEC646C}" destId="{A7309641-2A58-41EA-9E42-56812CF298ED}" srcOrd="2" destOrd="1" presId="urn:microsoft.com/office/officeart/2005/8/layout/orgChart1"/>
    <dgm:cxn modelId="{5AB4CCF2-CD9A-4359-90C1-689A19A92EDB}" type="presParOf" srcId="{9A0FF10C-81C7-47CD-A320-768F2009480B}" destId="{F492B679-3C8C-4E72-95A8-8B81298826E7}" srcOrd="2" destOrd="1" presId="urn:microsoft.com/office/officeart/2005/8/layout/orgChart1"/>
    <dgm:cxn modelId="{52D190D6-22DC-47DF-B0D7-D8E4884AC972}" type="presOf" srcId="{8D5FB264-0A5C-4C3A-85B7-453D9BD837DF}" destId="{F492B679-3C8C-4E72-95A8-8B81298826E7}" srcOrd="0" destOrd="0" presId="urn:microsoft.com/office/officeart/2005/8/layout/orgChart1"/>
    <dgm:cxn modelId="{1BC2C1C8-47D4-4B43-A30F-8A520FBD4CA1}" type="presParOf" srcId="{9A0FF10C-81C7-47CD-A320-768F2009480B}" destId="{C6F584B9-7EA2-46D8-913B-8F508509ECAB}" srcOrd="3" destOrd="1" presId="urn:microsoft.com/office/officeart/2005/8/layout/orgChart1"/>
    <dgm:cxn modelId="{6A3F1323-1BF0-4F4E-AD0B-1959FBDE6B43}" type="presParOf" srcId="{C6F584B9-7EA2-46D8-913B-8F508509ECAB}" destId="{6CAD9CE6-86A1-4F7D-98A6-3AF53F55F9E3}" srcOrd="0" destOrd="3" presId="urn:microsoft.com/office/officeart/2005/8/layout/orgChart1"/>
    <dgm:cxn modelId="{DB76B57A-CB3F-4984-AC97-FEAC1257752A}" type="presOf" srcId="{4EC42421-831D-4CD3-8215-2AF4300F9C01}" destId="{6CAD9CE6-86A1-4F7D-98A6-3AF53F55F9E3}" srcOrd="0" destOrd="0" presId="urn:microsoft.com/office/officeart/2005/8/layout/orgChart1"/>
    <dgm:cxn modelId="{70BFE9DC-D883-452E-9FEF-4FF6010AC764}" type="presParOf" srcId="{6CAD9CE6-86A1-4F7D-98A6-3AF53F55F9E3}" destId="{08A0D1D2-3A20-4D63-8E35-B7C8B6B16D48}" srcOrd="0" destOrd="0" presId="urn:microsoft.com/office/officeart/2005/8/layout/orgChart1"/>
    <dgm:cxn modelId="{5B6EE29B-FB68-47CE-91C9-4FA5FC4E6440}" type="presOf" srcId="{4EC42421-831D-4CD3-8215-2AF4300F9C01}" destId="{08A0D1D2-3A20-4D63-8E35-B7C8B6B16D48}" srcOrd="0" destOrd="0" presId="urn:microsoft.com/office/officeart/2005/8/layout/orgChart1"/>
    <dgm:cxn modelId="{5AADF9EF-448C-435D-95B9-5CA3A5E7A8EC}" type="presParOf" srcId="{6CAD9CE6-86A1-4F7D-98A6-3AF53F55F9E3}" destId="{6238C53E-A961-488B-8FBD-6EC13507B069}" srcOrd="1" destOrd="0" presId="urn:microsoft.com/office/officeart/2005/8/layout/orgChart1"/>
    <dgm:cxn modelId="{711B856E-4FB7-4A39-93A8-63F9FC4B093E}" type="presOf" srcId="{4EC42421-831D-4CD3-8215-2AF4300F9C01}" destId="{6238C53E-A961-488B-8FBD-6EC13507B069}" srcOrd="0" destOrd="0" presId="urn:microsoft.com/office/officeart/2005/8/layout/orgChart1"/>
    <dgm:cxn modelId="{20B44AA2-9179-42DD-B441-13A23E822079}" type="presParOf" srcId="{C6F584B9-7EA2-46D8-913B-8F508509ECAB}" destId="{A9C46FD3-3BE9-4E6E-BFF6-B0B42B13F857}" srcOrd="1" destOrd="3" presId="urn:microsoft.com/office/officeart/2005/8/layout/orgChart1"/>
    <dgm:cxn modelId="{6C8CA388-5E8C-4577-BC61-78611ED37885}" type="presParOf" srcId="{C6F584B9-7EA2-46D8-913B-8F508509ECAB}" destId="{A663BBFB-A120-4F5B-82EC-DB644DB9966B}" srcOrd="2" destOrd="3" presId="urn:microsoft.com/office/officeart/2005/8/layout/orgChart1"/>
    <dgm:cxn modelId="{F8DD6EED-6704-435E-9A90-F953A212AE37}" type="presParOf" srcId="{9A0FF10C-81C7-47CD-A320-768F2009480B}" destId="{AB3A8128-6C86-49B7-B5CC-0153888815E5}" srcOrd="4" destOrd="1" presId="urn:microsoft.com/office/officeart/2005/8/layout/orgChart1"/>
    <dgm:cxn modelId="{3BA83C93-9613-41B7-B2F6-D2D57A451702}" type="presOf" srcId="{CCF68ADE-40B6-47D0-93C1-88EC13ADC8AC}" destId="{AB3A8128-6C86-49B7-B5CC-0153888815E5}" srcOrd="0" destOrd="0" presId="urn:microsoft.com/office/officeart/2005/8/layout/orgChart1"/>
    <dgm:cxn modelId="{14A683BA-F63A-4E83-B5E1-F9B4EC35182E}" type="presParOf" srcId="{9A0FF10C-81C7-47CD-A320-768F2009480B}" destId="{1A917F9A-DDE6-4568-B35C-7FABCEF0A586}" srcOrd="5" destOrd="1" presId="urn:microsoft.com/office/officeart/2005/8/layout/orgChart1"/>
    <dgm:cxn modelId="{581B8884-2FEE-4EE4-BCFA-8301BF6A8A6A}" type="presParOf" srcId="{1A917F9A-DDE6-4568-B35C-7FABCEF0A586}" destId="{FA949B67-3DB7-47FA-97C9-4A653E762F22}" srcOrd="0" destOrd="5" presId="urn:microsoft.com/office/officeart/2005/8/layout/orgChart1"/>
    <dgm:cxn modelId="{327E5F1C-EDBA-4F12-9F69-84E3FCE64888}" type="presOf" srcId="{CF717C8A-B40B-4AFF-BF49-65ABB7DF8190}" destId="{FA949B67-3DB7-47FA-97C9-4A653E762F22}" srcOrd="0" destOrd="0" presId="urn:microsoft.com/office/officeart/2005/8/layout/orgChart1"/>
    <dgm:cxn modelId="{D1FA4DB7-028B-405F-A1F4-1689BC68258A}" type="presParOf" srcId="{FA949B67-3DB7-47FA-97C9-4A653E762F22}" destId="{7D64F4A3-0E55-47AC-A59B-9D5A9DC25552}" srcOrd="0" destOrd="0" presId="urn:microsoft.com/office/officeart/2005/8/layout/orgChart1"/>
    <dgm:cxn modelId="{AC63A6CC-7E07-401D-B3FA-FFA5D28382A0}" type="presOf" srcId="{CF717C8A-B40B-4AFF-BF49-65ABB7DF8190}" destId="{7D64F4A3-0E55-47AC-A59B-9D5A9DC25552}" srcOrd="0" destOrd="0" presId="urn:microsoft.com/office/officeart/2005/8/layout/orgChart1"/>
    <dgm:cxn modelId="{C902DAEA-D703-4EC9-8928-2C4C37FEA81F}" type="presParOf" srcId="{FA949B67-3DB7-47FA-97C9-4A653E762F22}" destId="{5667CB49-EC34-46BC-AD2D-72F3BD95D049}" srcOrd="1" destOrd="0" presId="urn:microsoft.com/office/officeart/2005/8/layout/orgChart1"/>
    <dgm:cxn modelId="{DE531DFB-568D-4B10-9805-F93CBA2CCB4D}" type="presOf" srcId="{CF717C8A-B40B-4AFF-BF49-65ABB7DF8190}" destId="{5667CB49-EC34-46BC-AD2D-72F3BD95D049}" srcOrd="0" destOrd="0" presId="urn:microsoft.com/office/officeart/2005/8/layout/orgChart1"/>
    <dgm:cxn modelId="{FB842362-60B3-428F-B235-261CA5A2637C}" type="presParOf" srcId="{1A917F9A-DDE6-4568-B35C-7FABCEF0A586}" destId="{EB3A10DA-2FA4-4DAD-8341-8078D7F83716}" srcOrd="1" destOrd="5" presId="urn:microsoft.com/office/officeart/2005/8/layout/orgChart1"/>
    <dgm:cxn modelId="{23CD368D-4355-4B12-BACE-A5FAC6445299}" type="presParOf" srcId="{1A917F9A-DDE6-4568-B35C-7FABCEF0A586}" destId="{B05C5608-85C8-433E-A928-1755312B673B}" srcOrd="2" destOrd="5" presId="urn:microsoft.com/office/officeart/2005/8/layout/orgChart1"/>
    <dgm:cxn modelId="{C82B357F-3540-496C-866A-5B1B956A759F}" type="presParOf" srcId="{F728C3E8-5128-4BB6-90CC-A86769ECE335}" destId="{0E819307-1B4E-434E-BA76-D5A4192B0663}" srcOrd="2" destOrd="0" presId="urn:microsoft.com/office/officeart/2005/8/layout/orgChart1"/>
    <dgm:cxn modelId="{E685F0D4-2BDF-4C75-89B5-5A6C925F320B}" type="presParOf" srcId="{0E819307-1B4E-434E-BA76-D5A4192B0663}" destId="{7CC60CE2-51D0-47DE-A469-FE4884597341}" srcOrd="0" destOrd="2" presId="urn:microsoft.com/office/officeart/2005/8/layout/orgChart1"/>
    <dgm:cxn modelId="{A25ED5BB-722B-4904-90E9-E8C73C82C26B}" type="presOf" srcId="{4294CB15-5EAF-442A-BADC-24588A60ECFF}" destId="{7CC60CE2-51D0-47DE-A469-FE4884597341}" srcOrd="0" destOrd="0" presId="urn:microsoft.com/office/officeart/2005/8/layout/orgChart1"/>
    <dgm:cxn modelId="{6507F591-4D24-4C19-BCBA-D4410D4A7B91}" type="presParOf" srcId="{0E819307-1B4E-434E-BA76-D5A4192B0663}" destId="{2C28615C-654F-4C05-9383-C72EAED46321}" srcOrd="1" destOrd="2" presId="urn:microsoft.com/office/officeart/2005/8/layout/orgChart1"/>
    <dgm:cxn modelId="{9AD62D99-2658-4B76-A116-CC3E77F8F805}" type="presParOf" srcId="{2C28615C-654F-4C05-9383-C72EAED46321}" destId="{531B400A-09FB-4AC6-91D5-6C58DB555D6A}" srcOrd="0" destOrd="1" presId="urn:microsoft.com/office/officeart/2005/8/layout/orgChart1"/>
    <dgm:cxn modelId="{0359B6CD-ADBB-4183-9D00-0C5165E82FFA}" type="presOf" srcId="{B29BF47F-FB6F-4BB3-8B1F-25C507DDACF5}" destId="{531B400A-09FB-4AC6-91D5-6C58DB555D6A}" srcOrd="0" destOrd="0" presId="urn:microsoft.com/office/officeart/2005/8/layout/orgChart1"/>
    <dgm:cxn modelId="{AD07056F-BF0F-4E43-A57E-DBD24132E6B0}" type="presParOf" srcId="{531B400A-09FB-4AC6-91D5-6C58DB555D6A}" destId="{15F46F7C-8483-49B2-9069-BD47518FA3C5}" srcOrd="0" destOrd="0" presId="urn:microsoft.com/office/officeart/2005/8/layout/orgChart1"/>
    <dgm:cxn modelId="{EB679ABF-C5CD-4881-B4F1-3965FED87BE9}" type="presOf" srcId="{B29BF47F-FB6F-4BB3-8B1F-25C507DDACF5}" destId="{15F46F7C-8483-49B2-9069-BD47518FA3C5}" srcOrd="0" destOrd="0" presId="urn:microsoft.com/office/officeart/2005/8/layout/orgChart1"/>
    <dgm:cxn modelId="{7289153F-2E59-4AA9-9621-9FC4C672FE21}" type="presParOf" srcId="{531B400A-09FB-4AC6-91D5-6C58DB555D6A}" destId="{84CA6990-2D5D-47C3-9020-DF2944DEADCF}" srcOrd="1" destOrd="0" presId="urn:microsoft.com/office/officeart/2005/8/layout/orgChart1"/>
    <dgm:cxn modelId="{BE8A2660-071E-42D6-B8FC-EA8608D6E8AC}" type="presOf" srcId="{B29BF47F-FB6F-4BB3-8B1F-25C507DDACF5}" destId="{84CA6990-2D5D-47C3-9020-DF2944DEADCF}" srcOrd="0" destOrd="0" presId="urn:microsoft.com/office/officeart/2005/8/layout/orgChart1"/>
    <dgm:cxn modelId="{B2800CA2-375B-4869-907C-4773793846EC}" type="presParOf" srcId="{2C28615C-654F-4C05-9383-C72EAED46321}" destId="{0851F80F-8C6D-4400-A85F-BC390C21E4EE}" srcOrd="1" destOrd="1" presId="urn:microsoft.com/office/officeart/2005/8/layout/orgChart1"/>
    <dgm:cxn modelId="{13816D01-25DF-47E3-B5B0-E6ECA90C5DAE}" type="presParOf" srcId="{2C28615C-654F-4C05-9383-C72EAED46321}" destId="{3025C0A7-DA6F-4394-8167-7956EFF162F0}" srcOrd="2" destOrd="1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7D31B3-3808-4FBA-8FA4-CC8D448A173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47C757F0-AA23-46BE-9311-EA432CDEEAA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conversion and sales </a:t>
          </a:r>
          <a:endParaRPr lang="en-US"/>
        </a:p>
      </dgm:t>
    </dgm:pt>
    <dgm:pt modelId="{AB39B06D-FE6C-48B2-B5B4-77CD0C8CF7AD}" cxnId="{0F437CF4-41EF-46B6-B0AA-115E1B2CFF5B}" type="parTrans">
      <dgm:prSet/>
      <dgm:spPr/>
      <dgm:t>
        <a:bodyPr/>
        <a:p>
          <a:endParaRPr lang="en-US"/>
        </a:p>
      </dgm:t>
    </dgm:pt>
    <dgm:pt modelId="{DF0D1C21-B79E-4875-B7FA-EF183CB48B88}" cxnId="{0F437CF4-41EF-46B6-B0AA-115E1B2CFF5B}" type="sibTrans">
      <dgm:prSet/>
      <dgm:spPr/>
      <dgm:t>
        <a:bodyPr/>
        <a:p>
          <a:endParaRPr lang="en-US"/>
        </a:p>
      </dgm:t>
    </dgm:pt>
    <dgm:pt modelId="{B29BF47F-FB6F-4BB3-8B1F-25C507DDACF5}" type="asst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2 </a:t>
          </a:r>
          <a:r>
            <a:rPr lang="en-US"/>
            <a:t/>
          </a:r>
          <a:endParaRPr lang="en-US"/>
        </a:p>
      </dgm:t>
    </dgm:pt>
    <dgm:pt modelId="{4294CB15-5EAF-442A-BADC-24588A60ECFF}" cxnId="{6A382946-B619-490F-8555-85174124565B}" type="parTrans">
      <dgm:prSet/>
      <dgm:spPr/>
      <dgm:t>
        <a:bodyPr/>
        <a:p>
          <a:endParaRPr lang="en-US"/>
        </a:p>
      </dgm:t>
    </dgm:pt>
    <dgm:pt modelId="{4FBEC948-3FA9-4375-B83A-B44348E5F34D}" cxnId="{6A382946-B619-490F-8555-85174124565B}" type="sibTrans">
      <dgm:prSet/>
      <dgm:spPr/>
      <dgm:t>
        <a:bodyPr/>
        <a:p>
          <a:endParaRPr lang="en-US"/>
        </a:p>
      </dgm:t>
    </dgm:pt>
    <dgm:pt modelId="{12714FC6-8B41-47E5-91DD-F02D34D23B93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post about mental health</a:t>
          </a:r>
          <a:endParaRPr lang="en-US"/>
        </a:p>
      </dgm:t>
    </dgm:pt>
    <dgm:pt modelId="{EACD17F5-D793-4A43-B489-D1804D50CFEF}" cxnId="{05C89C07-93B7-4B06-A0ED-509A0F589B10}" type="parTrans">
      <dgm:prSet/>
      <dgm:spPr/>
      <dgm:t>
        <a:bodyPr/>
        <a:p>
          <a:endParaRPr lang="en-US"/>
        </a:p>
      </dgm:t>
    </dgm:pt>
    <dgm:pt modelId="{FA45D93F-0724-4936-AA45-E6762732A19D}" cxnId="{05C89C07-93B7-4B06-A0ED-509A0F589B10}" type="sibTrans">
      <dgm:prSet/>
      <dgm:spPr/>
      <dgm:t>
        <a:bodyPr/>
        <a:p>
          <a:endParaRPr lang="en-US"/>
        </a:p>
      </dgm:t>
    </dgm:pt>
    <dgm:pt modelId="{4EC42421-831D-4CD3-8215-2AF4300F9C01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reels about the services</a:t>
          </a:r>
          <a:endParaRPr lang="en-US"/>
        </a:p>
      </dgm:t>
    </dgm:pt>
    <dgm:pt modelId="{8D5FB264-0A5C-4C3A-85B7-453D9BD837DF}" cxnId="{07ADFD00-F1C5-4CD2-9196-4736449EB7D4}" type="parTrans">
      <dgm:prSet/>
      <dgm:spPr/>
      <dgm:t>
        <a:bodyPr/>
        <a:p>
          <a:endParaRPr lang="en-US"/>
        </a:p>
      </dgm:t>
    </dgm:pt>
    <dgm:pt modelId="{A1825131-D805-48C8-BFCE-E45C02E6F5CE}" cxnId="{07ADFD00-F1C5-4CD2-9196-4736449EB7D4}" type="sibTrans">
      <dgm:prSet/>
      <dgm:spPr/>
      <dgm:t>
        <a:bodyPr/>
        <a:p>
          <a:endParaRPr lang="en-US"/>
        </a:p>
      </dgm:t>
    </dgm:pt>
    <dgm:pt modelId="{CF717C8A-B40B-4AFF-BF49-65ABB7DF8190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snack post about the difference between normal stress and anxiety</a:t>
          </a:r>
          <a:endParaRPr lang="en-US"/>
        </a:p>
      </dgm:t>
    </dgm:pt>
    <dgm:pt modelId="{CCF68ADE-40B6-47D0-93C1-88EC13ADC8AC}" cxnId="{B732DB30-8FE6-40A7-904A-0E94F60BD7A9}" type="parTrans">
      <dgm:prSet/>
      <dgm:spPr/>
      <dgm:t>
        <a:bodyPr/>
        <a:p>
          <a:endParaRPr lang="en-US"/>
        </a:p>
      </dgm:t>
    </dgm:pt>
    <dgm:pt modelId="{630D3E0B-D1D7-4E1A-8193-515AA5E1866F}" cxnId="{B732DB30-8FE6-40A7-904A-0E94F60BD7A9}" type="sibTrans">
      <dgm:prSet/>
      <dgm:spPr/>
      <dgm:t>
        <a:bodyPr/>
        <a:p>
          <a:endParaRPr lang="en-US"/>
        </a:p>
      </dgm:t>
    </dgm:pt>
    <dgm:pt modelId="{E498DC9C-C5AC-4482-A26F-3B99DC5D79F0}" type="pres">
      <dgm:prSet presAssocID="{A77D31B3-3808-4FBA-8FA4-CC8D448A17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28C3E8-5128-4BB6-90CC-A86769ECE335}" type="pres">
      <dgm:prSet presAssocID="{47C757F0-AA23-46BE-9311-EA432CDEEAA1}" presName="hierRoot1" presStyleCnt="0">
        <dgm:presLayoutVars>
          <dgm:hierBranch val="init"/>
        </dgm:presLayoutVars>
      </dgm:prSet>
      <dgm:spPr/>
    </dgm:pt>
    <dgm:pt modelId="{79147750-B6BF-43FD-83A0-7ACDC9B53EFF}" type="pres">
      <dgm:prSet presAssocID="{47C757F0-AA23-46BE-9311-EA432CDEEAA1}" presName="rootComposite1" presStyleCnt="0"/>
      <dgm:spPr/>
    </dgm:pt>
    <dgm:pt modelId="{AE79172D-D441-42BB-84EA-E3D989670DED}" type="pres">
      <dgm:prSet presAssocID="{47C757F0-AA23-46BE-9311-EA432CDEEAA1}" presName="rootText1" presStyleLbl="node0" presStyleIdx="0" presStyleCnt="1">
        <dgm:presLayoutVars>
          <dgm:chPref val="3"/>
        </dgm:presLayoutVars>
      </dgm:prSet>
      <dgm:spPr/>
    </dgm:pt>
    <dgm:pt modelId="{86420519-308D-4A6A-8FEA-6FB2E39BA448}" type="pres">
      <dgm:prSet presAssocID="{47C757F0-AA23-46BE-9311-EA432CDEEAA1}" presName="rootConnector1" presStyleCnt="0"/>
      <dgm:spPr/>
    </dgm:pt>
    <dgm:pt modelId="{9A0FF10C-81C7-47CD-A320-768F2009480B}" type="pres">
      <dgm:prSet presAssocID="{47C757F0-AA23-46BE-9311-EA432CDEEAA1}" presName="hierChild2" presStyleCnt="0"/>
      <dgm:spPr/>
    </dgm:pt>
    <dgm:pt modelId="{6A259130-4455-44E0-969B-948D1249687E}" type="pres">
      <dgm:prSet presAssocID="{EACD17F5-D793-4A43-B489-D1804D50CFEF}" presName="Name37" presStyleLbl="parChTrans1D2" presStyleIdx="0" presStyleCnt="4"/>
      <dgm:spPr/>
    </dgm:pt>
    <dgm:pt modelId="{D6C5C065-A308-417C-8ECC-04FC2BEC646C}" type="pres">
      <dgm:prSet presAssocID="{12714FC6-8B41-47E5-91DD-F02D34D23B93}" presName="hierRoot2" presStyleCnt="0">
        <dgm:presLayoutVars>
          <dgm:hierBranch val="init"/>
        </dgm:presLayoutVars>
      </dgm:prSet>
      <dgm:spPr/>
    </dgm:pt>
    <dgm:pt modelId="{E36491EF-5019-46FD-BC82-1BD579B9EE0E}" type="pres">
      <dgm:prSet presAssocID="{12714FC6-8B41-47E5-91DD-F02D34D23B93}" presName="rootComposite" presStyleCnt="0"/>
      <dgm:spPr/>
    </dgm:pt>
    <dgm:pt modelId="{43B7C837-49D6-40CE-BBAB-953D9E4BA7ED}" type="pres">
      <dgm:prSet presAssocID="{12714FC6-8B41-47E5-91DD-F02D34D23B93}" presName="rootText" presStyleLbl="node2" presStyleIdx="0" presStyleCnt="3">
        <dgm:presLayoutVars>
          <dgm:chPref val="3"/>
        </dgm:presLayoutVars>
      </dgm:prSet>
      <dgm:spPr/>
    </dgm:pt>
    <dgm:pt modelId="{9A037140-9B69-4B9F-A134-F2F2EB0F2E32}" type="pres">
      <dgm:prSet presAssocID="{12714FC6-8B41-47E5-91DD-F02D34D23B93}" presName="rootConnector" presStyleCnt="0"/>
      <dgm:spPr/>
    </dgm:pt>
    <dgm:pt modelId="{FA37AA5D-87C2-47F6-9B72-B753C073E744}" type="pres">
      <dgm:prSet presAssocID="{12714FC6-8B41-47E5-91DD-F02D34D23B93}" presName="hierChild4" presStyleCnt="0"/>
      <dgm:spPr/>
    </dgm:pt>
    <dgm:pt modelId="{A7309641-2A58-41EA-9E42-56812CF298ED}" type="pres">
      <dgm:prSet presAssocID="{12714FC6-8B41-47E5-91DD-F02D34D23B93}" presName="hierChild5" presStyleCnt="0"/>
      <dgm:spPr/>
    </dgm:pt>
    <dgm:pt modelId="{F492B679-3C8C-4E72-95A8-8B81298826E7}" type="pres">
      <dgm:prSet presAssocID="{8D5FB264-0A5C-4C3A-85B7-453D9BD837DF}" presName="Name37" presStyleLbl="parChTrans1D2" presStyleIdx="1" presStyleCnt="4"/>
      <dgm:spPr/>
    </dgm:pt>
    <dgm:pt modelId="{C6F584B9-7EA2-46D8-913B-8F508509ECAB}" type="pres">
      <dgm:prSet presAssocID="{4EC42421-831D-4CD3-8215-2AF4300F9C01}" presName="hierRoot2" presStyleCnt="0">
        <dgm:presLayoutVars>
          <dgm:hierBranch val="init"/>
        </dgm:presLayoutVars>
      </dgm:prSet>
      <dgm:spPr/>
    </dgm:pt>
    <dgm:pt modelId="{6CAD9CE6-86A1-4F7D-98A6-3AF53F55F9E3}" type="pres">
      <dgm:prSet presAssocID="{4EC42421-831D-4CD3-8215-2AF4300F9C01}" presName="rootComposite" presStyleCnt="0"/>
      <dgm:spPr/>
    </dgm:pt>
    <dgm:pt modelId="{08A0D1D2-3A20-4D63-8E35-B7C8B6B16D48}" type="pres">
      <dgm:prSet presAssocID="{4EC42421-831D-4CD3-8215-2AF4300F9C01}" presName="rootText" presStyleLbl="node2" presStyleIdx="1" presStyleCnt="3">
        <dgm:presLayoutVars>
          <dgm:chPref val="3"/>
        </dgm:presLayoutVars>
      </dgm:prSet>
      <dgm:spPr/>
    </dgm:pt>
    <dgm:pt modelId="{6238C53E-A961-488B-8FBD-6EC13507B069}" type="pres">
      <dgm:prSet presAssocID="{4EC42421-831D-4CD3-8215-2AF4300F9C01}" presName="rootConnector" presStyleCnt="0"/>
      <dgm:spPr/>
    </dgm:pt>
    <dgm:pt modelId="{A9C46FD3-3BE9-4E6E-BFF6-B0B42B13F857}" type="pres">
      <dgm:prSet presAssocID="{4EC42421-831D-4CD3-8215-2AF4300F9C01}" presName="hierChild4" presStyleCnt="0"/>
      <dgm:spPr/>
    </dgm:pt>
    <dgm:pt modelId="{A663BBFB-A120-4F5B-82EC-DB644DB9966B}" type="pres">
      <dgm:prSet presAssocID="{4EC42421-831D-4CD3-8215-2AF4300F9C01}" presName="hierChild5" presStyleCnt="0"/>
      <dgm:spPr/>
    </dgm:pt>
    <dgm:pt modelId="{AB3A8128-6C86-49B7-B5CC-0153888815E5}" type="pres">
      <dgm:prSet presAssocID="{CCF68ADE-40B6-47D0-93C1-88EC13ADC8AC}" presName="Name37" presStyleLbl="parChTrans1D2" presStyleIdx="2" presStyleCnt="4"/>
      <dgm:spPr/>
    </dgm:pt>
    <dgm:pt modelId="{1A917F9A-DDE6-4568-B35C-7FABCEF0A586}" type="pres">
      <dgm:prSet presAssocID="{CF717C8A-B40B-4AFF-BF49-65ABB7DF8190}" presName="hierRoot2" presStyleCnt="0">
        <dgm:presLayoutVars>
          <dgm:hierBranch val="init"/>
        </dgm:presLayoutVars>
      </dgm:prSet>
      <dgm:spPr/>
    </dgm:pt>
    <dgm:pt modelId="{FA949B67-3DB7-47FA-97C9-4A653E762F22}" type="pres">
      <dgm:prSet presAssocID="{CF717C8A-B40B-4AFF-BF49-65ABB7DF8190}" presName="rootComposite" presStyleCnt="0"/>
      <dgm:spPr/>
    </dgm:pt>
    <dgm:pt modelId="{7D64F4A3-0E55-47AC-A59B-9D5A9DC25552}" type="pres">
      <dgm:prSet presAssocID="{CF717C8A-B40B-4AFF-BF49-65ABB7DF8190}" presName="rootText" presStyleLbl="node2" presStyleIdx="2" presStyleCnt="3">
        <dgm:presLayoutVars>
          <dgm:chPref val="3"/>
        </dgm:presLayoutVars>
      </dgm:prSet>
      <dgm:spPr/>
    </dgm:pt>
    <dgm:pt modelId="{5667CB49-EC34-46BC-AD2D-72F3BD95D049}" type="pres">
      <dgm:prSet presAssocID="{CF717C8A-B40B-4AFF-BF49-65ABB7DF8190}" presName="rootConnector" presStyleCnt="0"/>
      <dgm:spPr/>
    </dgm:pt>
    <dgm:pt modelId="{EB3A10DA-2FA4-4DAD-8341-8078D7F83716}" type="pres">
      <dgm:prSet presAssocID="{CF717C8A-B40B-4AFF-BF49-65ABB7DF8190}" presName="hierChild4" presStyleCnt="0"/>
      <dgm:spPr/>
    </dgm:pt>
    <dgm:pt modelId="{B05C5608-85C8-433E-A928-1755312B673B}" type="pres">
      <dgm:prSet presAssocID="{CF717C8A-B40B-4AFF-BF49-65ABB7DF8190}" presName="hierChild5" presStyleCnt="0"/>
      <dgm:spPr/>
    </dgm:pt>
    <dgm:pt modelId="{0E819307-1B4E-434E-BA76-D5A4192B0663}" type="pres">
      <dgm:prSet presAssocID="{47C757F0-AA23-46BE-9311-EA432CDEEAA1}" presName="hierChild3" presStyleCnt="0"/>
      <dgm:spPr/>
    </dgm:pt>
    <dgm:pt modelId="{7CC60CE2-51D0-47DE-A469-FE4884597341}" type="pres">
      <dgm:prSet presAssocID="{4294CB15-5EAF-442A-BADC-24588A60ECFF}" presName="Name111" presStyleLbl="parChTrans1D2" presStyleIdx="3" presStyleCnt="4"/>
      <dgm:spPr/>
    </dgm:pt>
    <dgm:pt modelId="{2C28615C-654F-4C05-9383-C72EAED46321}" type="pres">
      <dgm:prSet presAssocID="{B29BF47F-FB6F-4BB3-8B1F-25C507DDACF5}" presName="hierRoot3" presStyleCnt="0">
        <dgm:presLayoutVars>
          <dgm:hierBranch val="init"/>
        </dgm:presLayoutVars>
      </dgm:prSet>
      <dgm:spPr/>
    </dgm:pt>
    <dgm:pt modelId="{531B400A-09FB-4AC6-91D5-6C58DB555D6A}" type="pres">
      <dgm:prSet presAssocID="{B29BF47F-FB6F-4BB3-8B1F-25C507DDACF5}" presName="rootComposite3" presStyleCnt="0"/>
      <dgm:spPr/>
    </dgm:pt>
    <dgm:pt modelId="{15F46F7C-8483-49B2-9069-BD47518FA3C5}" type="pres">
      <dgm:prSet presAssocID="{B29BF47F-FB6F-4BB3-8B1F-25C507DDACF5}" presName="rootText3" presStyleLbl="asst1" presStyleIdx="0" presStyleCnt="1">
        <dgm:presLayoutVars>
          <dgm:chPref val="3"/>
        </dgm:presLayoutVars>
      </dgm:prSet>
      <dgm:spPr/>
    </dgm:pt>
    <dgm:pt modelId="{84CA6990-2D5D-47C3-9020-DF2944DEADCF}" type="pres">
      <dgm:prSet presAssocID="{B29BF47F-FB6F-4BB3-8B1F-25C507DDACF5}" presName="rootConnector3" presStyleCnt="0"/>
      <dgm:spPr/>
    </dgm:pt>
    <dgm:pt modelId="{0851F80F-8C6D-4400-A85F-BC390C21E4EE}" type="pres">
      <dgm:prSet presAssocID="{B29BF47F-FB6F-4BB3-8B1F-25C507DDACF5}" presName="hierChild6" presStyleCnt="0"/>
      <dgm:spPr/>
    </dgm:pt>
    <dgm:pt modelId="{3025C0A7-DA6F-4394-8167-7956EFF162F0}" type="pres">
      <dgm:prSet presAssocID="{B29BF47F-FB6F-4BB3-8B1F-25C507DDACF5}" presName="hierChild7" presStyleCnt="0"/>
      <dgm:spPr/>
    </dgm:pt>
  </dgm:ptLst>
  <dgm:cxnLst>
    <dgm:cxn modelId="{0F437CF4-41EF-46B6-B0AA-115E1B2CFF5B}" srcId="{A77D31B3-3808-4FBA-8FA4-CC8D448A173E}" destId="{47C757F0-AA23-46BE-9311-EA432CDEEAA1}" srcOrd="0" destOrd="0" parTransId="{AB39B06D-FE6C-48B2-B5B4-77CD0C8CF7AD}" sibTransId="{DF0D1C21-B79E-4875-B7FA-EF183CB48B88}"/>
    <dgm:cxn modelId="{6A382946-B619-490F-8555-85174124565B}" srcId="{47C757F0-AA23-46BE-9311-EA432CDEEAA1}" destId="{B29BF47F-FB6F-4BB3-8B1F-25C507DDACF5}" srcOrd="0" destOrd="0" parTransId="{4294CB15-5EAF-442A-BADC-24588A60ECFF}" sibTransId="{4FBEC948-3FA9-4375-B83A-B44348E5F34D}"/>
    <dgm:cxn modelId="{05C89C07-93B7-4B06-A0ED-509A0F589B10}" srcId="{47C757F0-AA23-46BE-9311-EA432CDEEAA1}" destId="{12714FC6-8B41-47E5-91DD-F02D34D23B93}" srcOrd="1" destOrd="0" parTransId="{EACD17F5-D793-4A43-B489-D1804D50CFEF}" sibTransId="{FA45D93F-0724-4936-AA45-E6762732A19D}"/>
    <dgm:cxn modelId="{07ADFD00-F1C5-4CD2-9196-4736449EB7D4}" srcId="{47C757F0-AA23-46BE-9311-EA432CDEEAA1}" destId="{4EC42421-831D-4CD3-8215-2AF4300F9C01}" srcOrd="2" destOrd="0" parTransId="{8D5FB264-0A5C-4C3A-85B7-453D9BD837DF}" sibTransId="{A1825131-D805-48C8-BFCE-E45C02E6F5CE}"/>
    <dgm:cxn modelId="{B732DB30-8FE6-40A7-904A-0E94F60BD7A9}" srcId="{47C757F0-AA23-46BE-9311-EA432CDEEAA1}" destId="{CF717C8A-B40B-4AFF-BF49-65ABB7DF8190}" srcOrd="3" destOrd="0" parTransId="{CCF68ADE-40B6-47D0-93C1-88EC13ADC8AC}" sibTransId="{630D3E0B-D1D7-4E1A-8193-515AA5E1866F}"/>
    <dgm:cxn modelId="{6596B4DA-CB2E-458D-9338-7F06D868225A}" type="presOf" srcId="{A77D31B3-3808-4FBA-8FA4-CC8D448A173E}" destId="{E498DC9C-C5AC-4482-A26F-3B99DC5D79F0}" srcOrd="0" destOrd="0" presId="urn:microsoft.com/office/officeart/2005/8/layout/orgChart1"/>
    <dgm:cxn modelId="{308BEA22-C234-4D89-8083-376A3F6A666C}" type="presParOf" srcId="{E498DC9C-C5AC-4482-A26F-3B99DC5D79F0}" destId="{F728C3E8-5128-4BB6-90CC-A86769ECE335}" srcOrd="0" destOrd="0" presId="urn:microsoft.com/office/officeart/2005/8/layout/orgChart1"/>
    <dgm:cxn modelId="{D0694DF8-369A-4119-9496-B16F423462A4}" type="presParOf" srcId="{F728C3E8-5128-4BB6-90CC-A86769ECE335}" destId="{79147750-B6BF-43FD-83A0-7ACDC9B53EFF}" srcOrd="0" destOrd="0" presId="urn:microsoft.com/office/officeart/2005/8/layout/orgChart1"/>
    <dgm:cxn modelId="{7A4A6230-0E0D-4A76-91BC-ECC0938A6E04}" type="presOf" srcId="{47C757F0-AA23-46BE-9311-EA432CDEEAA1}" destId="{79147750-B6BF-43FD-83A0-7ACDC9B53EFF}" srcOrd="0" destOrd="0" presId="urn:microsoft.com/office/officeart/2005/8/layout/orgChart1"/>
    <dgm:cxn modelId="{F420DA99-45CE-4D98-AEE1-2937955E81E0}" type="presParOf" srcId="{79147750-B6BF-43FD-83A0-7ACDC9B53EFF}" destId="{AE79172D-D441-42BB-84EA-E3D989670DED}" srcOrd="0" destOrd="0" presId="urn:microsoft.com/office/officeart/2005/8/layout/orgChart1"/>
    <dgm:cxn modelId="{E9F11E27-9264-4366-B205-832E66B837E1}" type="presOf" srcId="{47C757F0-AA23-46BE-9311-EA432CDEEAA1}" destId="{AE79172D-D441-42BB-84EA-E3D989670DED}" srcOrd="0" destOrd="0" presId="urn:microsoft.com/office/officeart/2005/8/layout/orgChart1"/>
    <dgm:cxn modelId="{2C6DE60D-82BB-4365-A154-721E85CE9280}" type="presParOf" srcId="{79147750-B6BF-43FD-83A0-7ACDC9B53EFF}" destId="{86420519-308D-4A6A-8FEA-6FB2E39BA448}" srcOrd="1" destOrd="0" presId="urn:microsoft.com/office/officeart/2005/8/layout/orgChart1"/>
    <dgm:cxn modelId="{F1FFA986-7286-495E-BEA6-13E1792BED57}" type="presOf" srcId="{47C757F0-AA23-46BE-9311-EA432CDEEAA1}" destId="{86420519-308D-4A6A-8FEA-6FB2E39BA448}" srcOrd="0" destOrd="0" presId="urn:microsoft.com/office/officeart/2005/8/layout/orgChart1"/>
    <dgm:cxn modelId="{ED011F84-EF5F-4D31-976C-77B6EB36F059}" type="presParOf" srcId="{F728C3E8-5128-4BB6-90CC-A86769ECE335}" destId="{9A0FF10C-81C7-47CD-A320-768F2009480B}" srcOrd="1" destOrd="0" presId="urn:microsoft.com/office/officeart/2005/8/layout/orgChart1"/>
    <dgm:cxn modelId="{45094BE4-8437-4AE5-BCEE-08947BB1FEE2}" type="presParOf" srcId="{9A0FF10C-81C7-47CD-A320-768F2009480B}" destId="{6A259130-4455-44E0-969B-948D1249687E}" srcOrd="0" destOrd="1" presId="urn:microsoft.com/office/officeart/2005/8/layout/orgChart1"/>
    <dgm:cxn modelId="{A23A7A3B-F681-403A-ADB5-70552B556E58}" type="presOf" srcId="{EACD17F5-D793-4A43-B489-D1804D50CFEF}" destId="{6A259130-4455-44E0-969B-948D1249687E}" srcOrd="0" destOrd="0" presId="urn:microsoft.com/office/officeart/2005/8/layout/orgChart1"/>
    <dgm:cxn modelId="{85D85FBA-D4F0-4F1F-915E-ABBFEEB6D288}" type="presParOf" srcId="{9A0FF10C-81C7-47CD-A320-768F2009480B}" destId="{D6C5C065-A308-417C-8ECC-04FC2BEC646C}" srcOrd="1" destOrd="1" presId="urn:microsoft.com/office/officeart/2005/8/layout/orgChart1"/>
    <dgm:cxn modelId="{127246CD-FDFB-462C-80D2-0010C9C449D6}" type="presParOf" srcId="{D6C5C065-A308-417C-8ECC-04FC2BEC646C}" destId="{E36491EF-5019-46FD-BC82-1BD579B9EE0E}" srcOrd="0" destOrd="1" presId="urn:microsoft.com/office/officeart/2005/8/layout/orgChart1"/>
    <dgm:cxn modelId="{2398ABED-E809-4CCA-A37A-4D63528393A4}" type="presOf" srcId="{12714FC6-8B41-47E5-91DD-F02D34D23B93}" destId="{E36491EF-5019-46FD-BC82-1BD579B9EE0E}" srcOrd="0" destOrd="0" presId="urn:microsoft.com/office/officeart/2005/8/layout/orgChart1"/>
    <dgm:cxn modelId="{10E0FE37-90FF-454D-B71D-74B3AB68D3A7}" type="presParOf" srcId="{E36491EF-5019-46FD-BC82-1BD579B9EE0E}" destId="{43B7C837-49D6-40CE-BBAB-953D9E4BA7ED}" srcOrd="0" destOrd="0" presId="urn:microsoft.com/office/officeart/2005/8/layout/orgChart1"/>
    <dgm:cxn modelId="{280D47DB-F964-48BA-9143-35AC0B663314}" type="presOf" srcId="{12714FC6-8B41-47E5-91DD-F02D34D23B93}" destId="{43B7C837-49D6-40CE-BBAB-953D9E4BA7ED}" srcOrd="0" destOrd="0" presId="urn:microsoft.com/office/officeart/2005/8/layout/orgChart1"/>
    <dgm:cxn modelId="{6F53FBB6-CEB5-4E55-BEF1-12F06C0FC664}" type="presParOf" srcId="{E36491EF-5019-46FD-BC82-1BD579B9EE0E}" destId="{9A037140-9B69-4B9F-A134-F2F2EB0F2E32}" srcOrd="1" destOrd="0" presId="urn:microsoft.com/office/officeart/2005/8/layout/orgChart1"/>
    <dgm:cxn modelId="{2D10AB66-D058-4753-B416-F34A4FF06C9F}" type="presOf" srcId="{12714FC6-8B41-47E5-91DD-F02D34D23B93}" destId="{9A037140-9B69-4B9F-A134-F2F2EB0F2E32}" srcOrd="0" destOrd="0" presId="urn:microsoft.com/office/officeart/2005/8/layout/orgChart1"/>
    <dgm:cxn modelId="{E6AE2CBA-EBCD-48B8-845B-C34C10F5E340}" type="presParOf" srcId="{D6C5C065-A308-417C-8ECC-04FC2BEC646C}" destId="{FA37AA5D-87C2-47F6-9B72-B753C073E744}" srcOrd="1" destOrd="1" presId="urn:microsoft.com/office/officeart/2005/8/layout/orgChart1"/>
    <dgm:cxn modelId="{D31C6B5E-4260-4AA0-BB2D-35C25B12E822}" type="presParOf" srcId="{D6C5C065-A308-417C-8ECC-04FC2BEC646C}" destId="{A7309641-2A58-41EA-9E42-56812CF298ED}" srcOrd="2" destOrd="1" presId="urn:microsoft.com/office/officeart/2005/8/layout/orgChart1"/>
    <dgm:cxn modelId="{B1536905-AF43-46AA-9FE8-866FCC37805F}" type="presParOf" srcId="{9A0FF10C-81C7-47CD-A320-768F2009480B}" destId="{F492B679-3C8C-4E72-95A8-8B81298826E7}" srcOrd="2" destOrd="1" presId="urn:microsoft.com/office/officeart/2005/8/layout/orgChart1"/>
    <dgm:cxn modelId="{DFB07868-ED15-4C4B-9941-E9C9F1B3171D}" type="presOf" srcId="{8D5FB264-0A5C-4C3A-85B7-453D9BD837DF}" destId="{F492B679-3C8C-4E72-95A8-8B81298826E7}" srcOrd="0" destOrd="0" presId="urn:microsoft.com/office/officeart/2005/8/layout/orgChart1"/>
    <dgm:cxn modelId="{63779F82-97E7-427D-9440-27EDDD5BC3EC}" type="presParOf" srcId="{9A0FF10C-81C7-47CD-A320-768F2009480B}" destId="{C6F584B9-7EA2-46D8-913B-8F508509ECAB}" srcOrd="3" destOrd="1" presId="urn:microsoft.com/office/officeart/2005/8/layout/orgChart1"/>
    <dgm:cxn modelId="{B7FD36F4-4A4D-41D8-9DA5-15C5DA1C1DC4}" type="presParOf" srcId="{C6F584B9-7EA2-46D8-913B-8F508509ECAB}" destId="{6CAD9CE6-86A1-4F7D-98A6-3AF53F55F9E3}" srcOrd="0" destOrd="3" presId="urn:microsoft.com/office/officeart/2005/8/layout/orgChart1"/>
    <dgm:cxn modelId="{78CD4B02-D172-4102-85C6-E798F7E2E89C}" type="presOf" srcId="{4EC42421-831D-4CD3-8215-2AF4300F9C01}" destId="{6CAD9CE6-86A1-4F7D-98A6-3AF53F55F9E3}" srcOrd="0" destOrd="0" presId="urn:microsoft.com/office/officeart/2005/8/layout/orgChart1"/>
    <dgm:cxn modelId="{68312947-E1D8-4DC4-ABAB-A06019A72EC0}" type="presParOf" srcId="{6CAD9CE6-86A1-4F7D-98A6-3AF53F55F9E3}" destId="{08A0D1D2-3A20-4D63-8E35-B7C8B6B16D48}" srcOrd="0" destOrd="0" presId="urn:microsoft.com/office/officeart/2005/8/layout/orgChart1"/>
    <dgm:cxn modelId="{A6EB847A-E9E1-4249-9294-B17A062CEFF0}" type="presOf" srcId="{4EC42421-831D-4CD3-8215-2AF4300F9C01}" destId="{08A0D1D2-3A20-4D63-8E35-B7C8B6B16D48}" srcOrd="0" destOrd="0" presId="urn:microsoft.com/office/officeart/2005/8/layout/orgChart1"/>
    <dgm:cxn modelId="{2D29CCD1-1AD9-408E-B37A-5803F9EB9B58}" type="presParOf" srcId="{6CAD9CE6-86A1-4F7D-98A6-3AF53F55F9E3}" destId="{6238C53E-A961-488B-8FBD-6EC13507B069}" srcOrd="1" destOrd="0" presId="urn:microsoft.com/office/officeart/2005/8/layout/orgChart1"/>
    <dgm:cxn modelId="{7F97B53F-3532-4988-88AF-C0EC884AF1CB}" type="presOf" srcId="{4EC42421-831D-4CD3-8215-2AF4300F9C01}" destId="{6238C53E-A961-488B-8FBD-6EC13507B069}" srcOrd="0" destOrd="0" presId="urn:microsoft.com/office/officeart/2005/8/layout/orgChart1"/>
    <dgm:cxn modelId="{B4D5BE2A-5830-480F-B5DC-14C3397331D5}" type="presParOf" srcId="{C6F584B9-7EA2-46D8-913B-8F508509ECAB}" destId="{A9C46FD3-3BE9-4E6E-BFF6-B0B42B13F857}" srcOrd="1" destOrd="3" presId="urn:microsoft.com/office/officeart/2005/8/layout/orgChart1"/>
    <dgm:cxn modelId="{45175C61-1FD9-4FF0-B4D9-96DD8D800BE0}" type="presParOf" srcId="{C6F584B9-7EA2-46D8-913B-8F508509ECAB}" destId="{A663BBFB-A120-4F5B-82EC-DB644DB9966B}" srcOrd="2" destOrd="3" presId="urn:microsoft.com/office/officeart/2005/8/layout/orgChart1"/>
    <dgm:cxn modelId="{C7DF3057-7471-4343-8D1D-DD76830C95C2}" type="presParOf" srcId="{9A0FF10C-81C7-47CD-A320-768F2009480B}" destId="{AB3A8128-6C86-49B7-B5CC-0153888815E5}" srcOrd="4" destOrd="1" presId="urn:microsoft.com/office/officeart/2005/8/layout/orgChart1"/>
    <dgm:cxn modelId="{E8744516-55B7-4176-9AB2-0B26CBA833D0}" type="presOf" srcId="{CCF68ADE-40B6-47D0-93C1-88EC13ADC8AC}" destId="{AB3A8128-6C86-49B7-B5CC-0153888815E5}" srcOrd="0" destOrd="0" presId="urn:microsoft.com/office/officeart/2005/8/layout/orgChart1"/>
    <dgm:cxn modelId="{28C1604A-CCDB-42D1-8BF0-80D68DB6A5E1}" type="presParOf" srcId="{9A0FF10C-81C7-47CD-A320-768F2009480B}" destId="{1A917F9A-DDE6-4568-B35C-7FABCEF0A586}" srcOrd="5" destOrd="1" presId="urn:microsoft.com/office/officeart/2005/8/layout/orgChart1"/>
    <dgm:cxn modelId="{186EAA42-2CE7-43D2-B2DD-1039159E7D64}" type="presParOf" srcId="{1A917F9A-DDE6-4568-B35C-7FABCEF0A586}" destId="{FA949B67-3DB7-47FA-97C9-4A653E762F22}" srcOrd="0" destOrd="5" presId="urn:microsoft.com/office/officeart/2005/8/layout/orgChart1"/>
    <dgm:cxn modelId="{6B8A09B3-CE3D-46FF-B567-31986CB29AAE}" type="presOf" srcId="{CF717C8A-B40B-4AFF-BF49-65ABB7DF8190}" destId="{FA949B67-3DB7-47FA-97C9-4A653E762F22}" srcOrd="0" destOrd="0" presId="urn:microsoft.com/office/officeart/2005/8/layout/orgChart1"/>
    <dgm:cxn modelId="{4CA4CF48-10B6-4E08-9DD7-5D1635E86C50}" type="presParOf" srcId="{FA949B67-3DB7-47FA-97C9-4A653E762F22}" destId="{7D64F4A3-0E55-47AC-A59B-9D5A9DC25552}" srcOrd="0" destOrd="0" presId="urn:microsoft.com/office/officeart/2005/8/layout/orgChart1"/>
    <dgm:cxn modelId="{B1AA27C9-EE0F-477A-A043-57D4B65E9D9A}" type="presOf" srcId="{CF717C8A-B40B-4AFF-BF49-65ABB7DF8190}" destId="{7D64F4A3-0E55-47AC-A59B-9D5A9DC25552}" srcOrd="0" destOrd="0" presId="urn:microsoft.com/office/officeart/2005/8/layout/orgChart1"/>
    <dgm:cxn modelId="{36BDB527-0509-4357-8146-EAAD2F5BE250}" type="presParOf" srcId="{FA949B67-3DB7-47FA-97C9-4A653E762F22}" destId="{5667CB49-EC34-46BC-AD2D-72F3BD95D049}" srcOrd="1" destOrd="0" presId="urn:microsoft.com/office/officeart/2005/8/layout/orgChart1"/>
    <dgm:cxn modelId="{751274C0-21DA-43A3-ABAB-3009591398CA}" type="presOf" srcId="{CF717C8A-B40B-4AFF-BF49-65ABB7DF8190}" destId="{5667CB49-EC34-46BC-AD2D-72F3BD95D049}" srcOrd="0" destOrd="0" presId="urn:microsoft.com/office/officeart/2005/8/layout/orgChart1"/>
    <dgm:cxn modelId="{C72CF94A-BCBE-40BD-8F2A-AFCEE8356337}" type="presParOf" srcId="{1A917F9A-DDE6-4568-B35C-7FABCEF0A586}" destId="{EB3A10DA-2FA4-4DAD-8341-8078D7F83716}" srcOrd="1" destOrd="5" presId="urn:microsoft.com/office/officeart/2005/8/layout/orgChart1"/>
    <dgm:cxn modelId="{7AA50423-6D92-4DAD-9317-34A0475E96F3}" type="presParOf" srcId="{1A917F9A-DDE6-4568-B35C-7FABCEF0A586}" destId="{B05C5608-85C8-433E-A928-1755312B673B}" srcOrd="2" destOrd="5" presId="urn:microsoft.com/office/officeart/2005/8/layout/orgChart1"/>
    <dgm:cxn modelId="{70570227-54CC-42F5-BEBE-1742851236B4}" type="presParOf" srcId="{F728C3E8-5128-4BB6-90CC-A86769ECE335}" destId="{0E819307-1B4E-434E-BA76-D5A4192B0663}" srcOrd="2" destOrd="0" presId="urn:microsoft.com/office/officeart/2005/8/layout/orgChart1"/>
    <dgm:cxn modelId="{C10E54C9-019A-42C3-B957-1185FC575580}" type="presParOf" srcId="{0E819307-1B4E-434E-BA76-D5A4192B0663}" destId="{7CC60CE2-51D0-47DE-A469-FE4884597341}" srcOrd="0" destOrd="2" presId="urn:microsoft.com/office/officeart/2005/8/layout/orgChart1"/>
    <dgm:cxn modelId="{685DD307-9954-438A-8186-8662FC358E31}" type="presOf" srcId="{4294CB15-5EAF-442A-BADC-24588A60ECFF}" destId="{7CC60CE2-51D0-47DE-A469-FE4884597341}" srcOrd="0" destOrd="0" presId="urn:microsoft.com/office/officeart/2005/8/layout/orgChart1"/>
    <dgm:cxn modelId="{A6424189-AA51-4106-964E-D23AE1ADA7C2}" type="presParOf" srcId="{0E819307-1B4E-434E-BA76-D5A4192B0663}" destId="{2C28615C-654F-4C05-9383-C72EAED46321}" srcOrd="1" destOrd="2" presId="urn:microsoft.com/office/officeart/2005/8/layout/orgChart1"/>
    <dgm:cxn modelId="{28013156-18F3-4400-8634-57E51B811376}" type="presParOf" srcId="{2C28615C-654F-4C05-9383-C72EAED46321}" destId="{531B400A-09FB-4AC6-91D5-6C58DB555D6A}" srcOrd="0" destOrd="1" presId="urn:microsoft.com/office/officeart/2005/8/layout/orgChart1"/>
    <dgm:cxn modelId="{A4AE8129-D995-44AC-BF64-45607D9FCC32}" type="presOf" srcId="{B29BF47F-FB6F-4BB3-8B1F-25C507DDACF5}" destId="{531B400A-09FB-4AC6-91D5-6C58DB555D6A}" srcOrd="0" destOrd="0" presId="urn:microsoft.com/office/officeart/2005/8/layout/orgChart1"/>
    <dgm:cxn modelId="{A82DDB66-60B7-4FC5-8D71-3C2C1D56B595}" type="presParOf" srcId="{531B400A-09FB-4AC6-91D5-6C58DB555D6A}" destId="{15F46F7C-8483-49B2-9069-BD47518FA3C5}" srcOrd="0" destOrd="0" presId="urn:microsoft.com/office/officeart/2005/8/layout/orgChart1"/>
    <dgm:cxn modelId="{B3F7F65A-D2E8-40F0-8E51-7B80B38C4FC1}" type="presOf" srcId="{B29BF47F-FB6F-4BB3-8B1F-25C507DDACF5}" destId="{15F46F7C-8483-49B2-9069-BD47518FA3C5}" srcOrd="0" destOrd="0" presId="urn:microsoft.com/office/officeart/2005/8/layout/orgChart1"/>
    <dgm:cxn modelId="{2038FD58-E6F1-454E-A714-696F50555F8F}" type="presParOf" srcId="{531B400A-09FB-4AC6-91D5-6C58DB555D6A}" destId="{84CA6990-2D5D-47C3-9020-DF2944DEADCF}" srcOrd="1" destOrd="0" presId="urn:microsoft.com/office/officeart/2005/8/layout/orgChart1"/>
    <dgm:cxn modelId="{011888A3-6267-4BA6-A790-22153116C3B8}" type="presOf" srcId="{B29BF47F-FB6F-4BB3-8B1F-25C507DDACF5}" destId="{84CA6990-2D5D-47C3-9020-DF2944DEADCF}" srcOrd="0" destOrd="0" presId="urn:microsoft.com/office/officeart/2005/8/layout/orgChart1"/>
    <dgm:cxn modelId="{62C7EDE2-59C5-4A20-BF3B-AC4360E28C48}" type="presParOf" srcId="{2C28615C-654F-4C05-9383-C72EAED46321}" destId="{0851F80F-8C6D-4400-A85F-BC390C21E4EE}" srcOrd="1" destOrd="1" presId="urn:microsoft.com/office/officeart/2005/8/layout/orgChart1"/>
    <dgm:cxn modelId="{236C3AFC-9B76-4CE9-842D-8BC506AA6896}" type="presParOf" srcId="{2C28615C-654F-4C05-9383-C72EAED46321}" destId="{3025C0A7-DA6F-4394-8167-7956EFF162F0}" srcOrd="2" destOrd="1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6A259130-4455-44E0-969B-948D1249687E}">
      <dsp:nvSpPr>
        <dsp:cNvPr id="5" name="Freeform 4"/>
        <dsp:cNvSpPr/>
      </dsp:nvSpPr>
      <dsp:spPr bwMode="white">
        <a:xfrm>
          <a:off x="2515551" y="1133161"/>
          <a:ext cx="2742249" cy="2085016"/>
        </a:xfrm>
        <a:custGeom>
          <a:avLst/>
          <a:gdLst/>
          <a:ahLst/>
          <a:cxnLst/>
          <a:pathLst>
            <a:path w="4319" h="3283">
              <a:moveTo>
                <a:pt x="4319" y="0"/>
              </a:moveTo>
              <a:lnTo>
                <a:pt x="4319" y="2909"/>
              </a:lnTo>
              <a:lnTo>
                <a:pt x="0" y="2909"/>
              </a:lnTo>
              <a:lnTo>
                <a:pt x="0" y="3283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515551" y="1133161"/>
        <a:ext cx="2742249" cy="2085016"/>
      </dsp:txXfrm>
    </dsp:sp>
    <dsp:sp modelId="{F492B679-3C8C-4E72-95A8-8B81298826E7}">
      <dsp:nvSpPr>
        <dsp:cNvPr id="8" name="Freeform 7"/>
        <dsp:cNvSpPr/>
      </dsp:nvSpPr>
      <dsp:spPr bwMode="white">
        <a:xfrm>
          <a:off x="5257800" y="1133161"/>
          <a:ext cx="0" cy="2085016"/>
        </a:xfrm>
        <a:custGeom>
          <a:avLst/>
          <a:gdLst/>
          <a:ahLst/>
          <a:cxnLst/>
          <a:pathLst>
            <a:path h="3283">
              <a:moveTo>
                <a:pt x="0" y="0"/>
              </a:moveTo>
              <a:lnTo>
                <a:pt x="0" y="3283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257800" y="1133161"/>
        <a:ext cx="0" cy="2085016"/>
      </dsp:txXfrm>
    </dsp:sp>
    <dsp:sp modelId="{AB3A8128-6C86-49B7-B5CC-0153888815E5}">
      <dsp:nvSpPr>
        <dsp:cNvPr id="11" name="Freeform 10"/>
        <dsp:cNvSpPr/>
      </dsp:nvSpPr>
      <dsp:spPr bwMode="white">
        <a:xfrm>
          <a:off x="5257800" y="1133161"/>
          <a:ext cx="2742249" cy="2085016"/>
        </a:xfrm>
        <a:custGeom>
          <a:avLst/>
          <a:gdLst/>
          <a:ahLst/>
          <a:cxnLst/>
          <a:pathLst>
            <a:path w="4319" h="3283">
              <a:moveTo>
                <a:pt x="0" y="0"/>
              </a:moveTo>
              <a:lnTo>
                <a:pt x="0" y="2909"/>
              </a:lnTo>
              <a:lnTo>
                <a:pt x="4319" y="2909"/>
              </a:lnTo>
              <a:lnTo>
                <a:pt x="4319" y="3283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257800" y="1133161"/>
        <a:ext cx="2742249" cy="2085016"/>
      </dsp:txXfrm>
    </dsp:sp>
    <dsp:sp modelId="{7CC60CE2-51D0-47DE-A469-FE4884597341}">
      <dsp:nvSpPr>
        <dsp:cNvPr id="14" name="Freeform 13"/>
        <dsp:cNvSpPr/>
      </dsp:nvSpPr>
      <dsp:spPr bwMode="white">
        <a:xfrm>
          <a:off x="5019836" y="1133161"/>
          <a:ext cx="237964" cy="1042508"/>
        </a:xfrm>
        <a:custGeom>
          <a:avLst/>
          <a:gdLst/>
          <a:ahLst/>
          <a:cxnLst/>
          <a:pathLst>
            <a:path w="375" h="1642">
              <a:moveTo>
                <a:pt x="375" y="0"/>
              </a:moveTo>
              <a:lnTo>
                <a:pt x="375" y="1642"/>
              </a:lnTo>
              <a:lnTo>
                <a:pt x="0" y="164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019836" y="1133161"/>
        <a:ext cx="237964" cy="1042508"/>
      </dsp:txXfrm>
    </dsp:sp>
    <dsp:sp modelId="{AE79172D-D441-42BB-84EA-E3D989670DED}">
      <dsp:nvSpPr>
        <dsp:cNvPr id="3" name="Rectangles 2"/>
        <dsp:cNvSpPr/>
      </dsp:nvSpPr>
      <dsp:spPr bwMode="white">
        <a:xfrm>
          <a:off x="4124639" y="0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875" tIns="15875" rIns="15875" bIns="15875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engagment </a:t>
          </a:r>
          <a:endParaRPr lang="en-US"/>
        </a:p>
      </dsp:txBody>
      <dsp:txXfrm>
        <a:off x="4124639" y="0"/>
        <a:ext cx="2266322" cy="1133161"/>
      </dsp:txXfrm>
    </dsp:sp>
    <dsp:sp modelId="{43B7C837-49D6-40CE-BBAB-953D9E4BA7ED}">
      <dsp:nvSpPr>
        <dsp:cNvPr id="6" name="Rectangles 5"/>
        <dsp:cNvSpPr/>
      </dsp:nvSpPr>
      <dsp:spPr bwMode="white">
        <a:xfrm>
          <a:off x="1382390" y="3218177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875" tIns="15875" rIns="15875" bIns="15875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reel about diabetes</a:t>
          </a:r>
          <a:endParaRPr lang="en-US"/>
        </a:p>
      </dsp:txBody>
      <dsp:txXfrm>
        <a:off x="1382390" y="3218177"/>
        <a:ext cx="2266322" cy="1133161"/>
      </dsp:txXfrm>
    </dsp:sp>
    <dsp:sp modelId="{08A0D1D2-3A20-4D63-8E35-B7C8B6B16D48}">
      <dsp:nvSpPr>
        <dsp:cNvPr id="9" name="Rectangles 8"/>
        <dsp:cNvSpPr/>
      </dsp:nvSpPr>
      <dsp:spPr bwMode="white">
        <a:xfrm>
          <a:off x="4124639" y="3218177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875" tIns="15875" rIns="15875" bIns="15875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post about care for diabetic eye </a:t>
          </a:r>
          <a:endParaRPr lang="en-US"/>
        </a:p>
      </dsp:txBody>
      <dsp:txXfrm>
        <a:off x="4124639" y="3218177"/>
        <a:ext cx="2266322" cy="1133161"/>
      </dsp:txXfrm>
    </dsp:sp>
    <dsp:sp modelId="{7D64F4A3-0E55-47AC-A59B-9D5A9DC25552}">
      <dsp:nvSpPr>
        <dsp:cNvPr id="12" name="Rectangles 11"/>
        <dsp:cNvSpPr/>
      </dsp:nvSpPr>
      <dsp:spPr bwMode="white">
        <a:xfrm>
          <a:off x="6866889" y="3218177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875" tIns="15875" rIns="15875" bIns="15875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snack post about diabetic food </a:t>
          </a:r>
          <a:endParaRPr lang="en-US"/>
        </a:p>
      </dsp:txBody>
      <dsp:txXfrm>
        <a:off x="6866889" y="3218177"/>
        <a:ext cx="2266322" cy="1133161"/>
      </dsp:txXfrm>
    </dsp:sp>
    <dsp:sp modelId="{15F46F7C-8483-49B2-9069-BD47518FA3C5}">
      <dsp:nvSpPr>
        <dsp:cNvPr id="15" name="Rectangles 14"/>
        <dsp:cNvSpPr/>
      </dsp:nvSpPr>
      <dsp:spPr bwMode="white">
        <a:xfrm>
          <a:off x="2753514" y="1609089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5875" tIns="15875" rIns="15875" bIns="15875" anchor="ctr"/>
        <a:lstStyle>
          <a:lvl1pPr algn="ctr">
            <a:defRPr sz="2500"/>
          </a:lvl1pPr>
          <a:lvl2pPr marL="171450" indent="-171450" algn="ctr">
            <a:defRPr sz="1900"/>
          </a:lvl2pPr>
          <a:lvl3pPr marL="342900" indent="-171450" algn="ctr">
            <a:defRPr sz="1900"/>
          </a:lvl3pPr>
          <a:lvl4pPr marL="514350" indent="-171450" algn="ctr">
            <a:defRPr sz="1900"/>
          </a:lvl4pPr>
          <a:lvl5pPr marL="685800" indent="-171450" algn="ctr">
            <a:defRPr sz="1900"/>
          </a:lvl5pPr>
          <a:lvl6pPr marL="857250" indent="-171450" algn="ctr">
            <a:defRPr sz="1900"/>
          </a:lvl6pPr>
          <a:lvl7pPr marL="1028700" indent="-171450" algn="ctr">
            <a:defRPr sz="1900"/>
          </a:lvl7pPr>
          <a:lvl8pPr marL="1200150" indent="-171450" algn="ctr">
            <a:defRPr sz="1900"/>
          </a:lvl8pPr>
          <a:lvl9pPr marL="1371600" indent="-171450" algn="ctr">
            <a:defRPr sz="1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</a:t>
          </a:r>
          <a:endParaRPr lang="en-US"/>
        </a:p>
      </dsp:txBody>
      <dsp:txXfrm>
        <a:off x="2753514" y="1609089"/>
        <a:ext cx="2266322" cy="1133161"/>
      </dsp:txXfrm>
    </dsp:sp>
    <dsp:sp modelId="{86420519-308D-4A6A-8FEA-6FB2E39BA448}">
      <dsp:nvSpPr>
        <dsp:cNvPr id="4" name="Rectangles 3" hidden="1"/>
        <dsp:cNvSpPr/>
      </dsp:nvSpPr>
      <dsp:spPr>
        <a:xfrm>
          <a:off x="4124639" y="0"/>
          <a:ext cx="453264" cy="1133161"/>
        </a:xfrm>
        <a:prstGeom prst="rect">
          <a:avLst/>
        </a:prstGeom>
      </dsp:spPr>
      <dsp:txXfrm>
        <a:off x="4124639" y="0"/>
        <a:ext cx="453264" cy="1133161"/>
      </dsp:txXfrm>
    </dsp:sp>
    <dsp:sp modelId="{9A037140-9B69-4B9F-A134-F2F2EB0F2E32}">
      <dsp:nvSpPr>
        <dsp:cNvPr id="7" name="Rectangles 6" hidden="1"/>
        <dsp:cNvSpPr/>
      </dsp:nvSpPr>
      <dsp:spPr>
        <a:xfrm>
          <a:off x="1382390" y="3218177"/>
          <a:ext cx="453264" cy="1133161"/>
        </a:xfrm>
        <a:prstGeom prst="rect">
          <a:avLst/>
        </a:prstGeom>
      </dsp:spPr>
      <dsp:txXfrm>
        <a:off x="1382390" y="3218177"/>
        <a:ext cx="453264" cy="1133161"/>
      </dsp:txXfrm>
    </dsp:sp>
    <dsp:sp modelId="{6238C53E-A961-488B-8FBD-6EC13507B069}">
      <dsp:nvSpPr>
        <dsp:cNvPr id="10" name="Rectangles 9" hidden="1"/>
        <dsp:cNvSpPr/>
      </dsp:nvSpPr>
      <dsp:spPr>
        <a:xfrm>
          <a:off x="4124639" y="3218177"/>
          <a:ext cx="453264" cy="1133161"/>
        </a:xfrm>
        <a:prstGeom prst="rect">
          <a:avLst/>
        </a:prstGeom>
      </dsp:spPr>
      <dsp:txXfrm>
        <a:off x="4124639" y="3218177"/>
        <a:ext cx="453264" cy="1133161"/>
      </dsp:txXfrm>
    </dsp:sp>
    <dsp:sp modelId="{5667CB49-EC34-46BC-AD2D-72F3BD95D049}">
      <dsp:nvSpPr>
        <dsp:cNvPr id="13" name="Rectangles 12" hidden="1"/>
        <dsp:cNvSpPr/>
      </dsp:nvSpPr>
      <dsp:spPr>
        <a:xfrm>
          <a:off x="6866889" y="3218177"/>
          <a:ext cx="453264" cy="1133161"/>
        </a:xfrm>
        <a:prstGeom prst="rect">
          <a:avLst/>
        </a:prstGeom>
      </dsp:spPr>
      <dsp:txXfrm>
        <a:off x="6866889" y="3218177"/>
        <a:ext cx="453264" cy="1133161"/>
      </dsp:txXfrm>
    </dsp:sp>
    <dsp:sp modelId="{84CA6990-2D5D-47C3-9020-DF2944DEADCF}">
      <dsp:nvSpPr>
        <dsp:cNvPr id="16" name="Rectangles 15" hidden="1"/>
        <dsp:cNvSpPr/>
      </dsp:nvSpPr>
      <dsp:spPr>
        <a:xfrm>
          <a:off x="2753514" y="1609089"/>
          <a:ext cx="453264" cy="1133161"/>
        </a:xfrm>
        <a:prstGeom prst="rect">
          <a:avLst/>
        </a:prstGeom>
      </dsp:spPr>
      <dsp:txXfrm>
        <a:off x="2753514" y="1609089"/>
        <a:ext cx="453264" cy="11331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6A259130-4455-44E0-969B-948D1249687E}">
      <dsp:nvSpPr>
        <dsp:cNvPr id="5" name="Freeform 4"/>
        <dsp:cNvSpPr/>
      </dsp:nvSpPr>
      <dsp:spPr bwMode="white">
        <a:xfrm>
          <a:off x="2515551" y="1133161"/>
          <a:ext cx="2742249" cy="2085016"/>
        </a:xfrm>
        <a:custGeom>
          <a:avLst/>
          <a:gdLst/>
          <a:ahLst/>
          <a:cxnLst/>
          <a:pathLst>
            <a:path w="4319" h="3283">
              <a:moveTo>
                <a:pt x="4319" y="0"/>
              </a:moveTo>
              <a:lnTo>
                <a:pt x="4319" y="2909"/>
              </a:lnTo>
              <a:lnTo>
                <a:pt x="0" y="2909"/>
              </a:lnTo>
              <a:lnTo>
                <a:pt x="0" y="3283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2515551" y="1133161"/>
        <a:ext cx="2742249" cy="2085016"/>
      </dsp:txXfrm>
    </dsp:sp>
    <dsp:sp modelId="{F492B679-3C8C-4E72-95A8-8B81298826E7}">
      <dsp:nvSpPr>
        <dsp:cNvPr id="8" name="Freeform 7"/>
        <dsp:cNvSpPr/>
      </dsp:nvSpPr>
      <dsp:spPr bwMode="white">
        <a:xfrm>
          <a:off x="5257800" y="1133161"/>
          <a:ext cx="0" cy="2085016"/>
        </a:xfrm>
        <a:custGeom>
          <a:avLst/>
          <a:gdLst/>
          <a:ahLst/>
          <a:cxnLst/>
          <a:pathLst>
            <a:path h="3283">
              <a:moveTo>
                <a:pt x="0" y="0"/>
              </a:moveTo>
              <a:lnTo>
                <a:pt x="0" y="3283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257800" y="1133161"/>
        <a:ext cx="0" cy="2085016"/>
      </dsp:txXfrm>
    </dsp:sp>
    <dsp:sp modelId="{AB3A8128-6C86-49B7-B5CC-0153888815E5}">
      <dsp:nvSpPr>
        <dsp:cNvPr id="11" name="Freeform 10"/>
        <dsp:cNvSpPr/>
      </dsp:nvSpPr>
      <dsp:spPr bwMode="white">
        <a:xfrm>
          <a:off x="5257800" y="1133161"/>
          <a:ext cx="2742249" cy="2085016"/>
        </a:xfrm>
        <a:custGeom>
          <a:avLst/>
          <a:gdLst/>
          <a:ahLst/>
          <a:cxnLst/>
          <a:pathLst>
            <a:path w="4319" h="3283">
              <a:moveTo>
                <a:pt x="0" y="0"/>
              </a:moveTo>
              <a:lnTo>
                <a:pt x="0" y="2909"/>
              </a:lnTo>
              <a:lnTo>
                <a:pt x="4319" y="2909"/>
              </a:lnTo>
              <a:lnTo>
                <a:pt x="4319" y="3283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257800" y="1133161"/>
        <a:ext cx="2742249" cy="2085016"/>
      </dsp:txXfrm>
    </dsp:sp>
    <dsp:sp modelId="{7CC60CE2-51D0-47DE-A469-FE4884597341}">
      <dsp:nvSpPr>
        <dsp:cNvPr id="14" name="Freeform 13"/>
        <dsp:cNvSpPr/>
      </dsp:nvSpPr>
      <dsp:spPr bwMode="white">
        <a:xfrm>
          <a:off x="5019836" y="1133161"/>
          <a:ext cx="237964" cy="1042508"/>
        </a:xfrm>
        <a:custGeom>
          <a:avLst/>
          <a:gdLst/>
          <a:ahLst/>
          <a:cxnLst/>
          <a:pathLst>
            <a:path w="375" h="1642">
              <a:moveTo>
                <a:pt x="375" y="0"/>
              </a:moveTo>
              <a:lnTo>
                <a:pt x="375" y="1642"/>
              </a:lnTo>
              <a:lnTo>
                <a:pt x="0" y="1642"/>
              </a:lnTo>
            </a:path>
          </a:pathLst>
        </a:custGeom>
      </dsp:spPr>
      <dsp:style>
        <a:lnRef idx="2">
          <a:schemeClr val="accent1">
            <a:tint val="90000"/>
          </a:schemeClr>
        </a:lnRef>
        <a:fillRef idx="0">
          <a:schemeClr val="accent1">
            <a:tint val="90000"/>
          </a:schemeClr>
        </a:fillRef>
        <a:effectRef idx="0">
          <a:scrgbClr r="0" g="0" b="0"/>
        </a:effectRef>
        <a:fontRef idx="minor"/>
      </dsp:style>
      <dsp:txXfrm>
        <a:off x="5019836" y="1133161"/>
        <a:ext cx="237964" cy="1042508"/>
      </dsp:txXfrm>
    </dsp:sp>
    <dsp:sp modelId="{AE79172D-D441-42BB-84EA-E3D989670DED}">
      <dsp:nvSpPr>
        <dsp:cNvPr id="3" name="Rectangles 2"/>
        <dsp:cNvSpPr/>
      </dsp:nvSpPr>
      <dsp:spPr bwMode="white">
        <a:xfrm>
          <a:off x="4124639" y="0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conversion and sales </a:t>
          </a:r>
          <a:endParaRPr lang="en-US"/>
        </a:p>
      </dsp:txBody>
      <dsp:txXfrm>
        <a:off x="4124639" y="0"/>
        <a:ext cx="2266322" cy="1133161"/>
      </dsp:txXfrm>
    </dsp:sp>
    <dsp:sp modelId="{43B7C837-49D6-40CE-BBAB-953D9E4BA7ED}">
      <dsp:nvSpPr>
        <dsp:cNvPr id="6" name="Rectangles 5"/>
        <dsp:cNvSpPr/>
      </dsp:nvSpPr>
      <dsp:spPr bwMode="white">
        <a:xfrm>
          <a:off x="1382390" y="3218177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post about mental health</a:t>
          </a:r>
          <a:endParaRPr lang="en-US"/>
        </a:p>
      </dsp:txBody>
      <dsp:txXfrm>
        <a:off x="1382390" y="3218177"/>
        <a:ext cx="2266322" cy="1133161"/>
      </dsp:txXfrm>
    </dsp:sp>
    <dsp:sp modelId="{08A0D1D2-3A20-4D63-8E35-B7C8B6B16D48}">
      <dsp:nvSpPr>
        <dsp:cNvPr id="9" name="Rectangles 8"/>
        <dsp:cNvSpPr/>
      </dsp:nvSpPr>
      <dsp:spPr bwMode="white">
        <a:xfrm>
          <a:off x="4124639" y="3218177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reels about the services</a:t>
          </a:r>
          <a:endParaRPr lang="en-US"/>
        </a:p>
      </dsp:txBody>
      <dsp:txXfrm>
        <a:off x="4124639" y="3218177"/>
        <a:ext cx="2266322" cy="1133161"/>
      </dsp:txXfrm>
    </dsp:sp>
    <dsp:sp modelId="{7D64F4A3-0E55-47AC-A59B-9D5A9DC25552}">
      <dsp:nvSpPr>
        <dsp:cNvPr id="12" name="Rectangles 11"/>
        <dsp:cNvSpPr/>
      </dsp:nvSpPr>
      <dsp:spPr bwMode="white">
        <a:xfrm>
          <a:off x="6866889" y="3218177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snack post about the difference between normal stress and anxiety</a:t>
          </a:r>
          <a:endParaRPr lang="en-US"/>
        </a:p>
      </dsp:txBody>
      <dsp:txXfrm>
        <a:off x="6866889" y="3218177"/>
        <a:ext cx="2266322" cy="1133161"/>
      </dsp:txXfrm>
    </dsp:sp>
    <dsp:sp modelId="{15F46F7C-8483-49B2-9069-BD47518FA3C5}">
      <dsp:nvSpPr>
        <dsp:cNvPr id="15" name="Rectangles 14"/>
        <dsp:cNvSpPr/>
      </dsp:nvSpPr>
      <dsp:spPr bwMode="white">
        <a:xfrm>
          <a:off x="2753514" y="1609089"/>
          <a:ext cx="2266322" cy="1133161"/>
        </a:xfrm>
        <a:prstGeom prst="rect">
          <a:avLst/>
        </a:prstGeom>
      </dsp:spPr>
      <dsp:style>
        <a:lnRef idx="2">
          <a:schemeClr val="lt1"/>
        </a:lnRef>
        <a:fillRef idx="1">
          <a:schemeClr val="accent1">
            <a:alpha val="9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ad set 2 </a:t>
          </a:r>
          <a:endParaRPr lang="en-US"/>
        </a:p>
      </dsp:txBody>
      <dsp:txXfrm>
        <a:off x="2753514" y="1609089"/>
        <a:ext cx="2266322" cy="1133161"/>
      </dsp:txXfrm>
    </dsp:sp>
    <dsp:sp modelId="{86420519-308D-4A6A-8FEA-6FB2E39BA448}">
      <dsp:nvSpPr>
        <dsp:cNvPr id="4" name="Rectangles 3" hidden="1"/>
        <dsp:cNvSpPr/>
      </dsp:nvSpPr>
      <dsp:spPr>
        <a:xfrm>
          <a:off x="4124639" y="0"/>
          <a:ext cx="453264" cy="1133161"/>
        </a:xfrm>
        <a:prstGeom prst="rect">
          <a:avLst/>
        </a:prstGeom>
      </dsp:spPr>
      <dsp:txXfrm>
        <a:off x="4124639" y="0"/>
        <a:ext cx="453264" cy="1133161"/>
      </dsp:txXfrm>
    </dsp:sp>
    <dsp:sp modelId="{9A037140-9B69-4B9F-A134-F2F2EB0F2E32}">
      <dsp:nvSpPr>
        <dsp:cNvPr id="7" name="Rectangles 6" hidden="1"/>
        <dsp:cNvSpPr/>
      </dsp:nvSpPr>
      <dsp:spPr>
        <a:xfrm>
          <a:off x="1382390" y="3218177"/>
          <a:ext cx="453264" cy="1133161"/>
        </a:xfrm>
        <a:prstGeom prst="rect">
          <a:avLst/>
        </a:prstGeom>
      </dsp:spPr>
      <dsp:txXfrm>
        <a:off x="1382390" y="3218177"/>
        <a:ext cx="453264" cy="1133161"/>
      </dsp:txXfrm>
    </dsp:sp>
    <dsp:sp modelId="{6238C53E-A961-488B-8FBD-6EC13507B069}">
      <dsp:nvSpPr>
        <dsp:cNvPr id="10" name="Rectangles 9" hidden="1"/>
        <dsp:cNvSpPr/>
      </dsp:nvSpPr>
      <dsp:spPr>
        <a:xfrm>
          <a:off x="4124639" y="3218177"/>
          <a:ext cx="453264" cy="1133161"/>
        </a:xfrm>
        <a:prstGeom prst="rect">
          <a:avLst/>
        </a:prstGeom>
      </dsp:spPr>
      <dsp:txXfrm>
        <a:off x="4124639" y="3218177"/>
        <a:ext cx="453264" cy="1133161"/>
      </dsp:txXfrm>
    </dsp:sp>
    <dsp:sp modelId="{5667CB49-EC34-46BC-AD2D-72F3BD95D049}">
      <dsp:nvSpPr>
        <dsp:cNvPr id="13" name="Rectangles 12" hidden="1"/>
        <dsp:cNvSpPr/>
      </dsp:nvSpPr>
      <dsp:spPr>
        <a:xfrm>
          <a:off x="6866889" y="3218177"/>
          <a:ext cx="453264" cy="1133161"/>
        </a:xfrm>
        <a:prstGeom prst="rect">
          <a:avLst/>
        </a:prstGeom>
      </dsp:spPr>
      <dsp:txXfrm>
        <a:off x="6866889" y="3218177"/>
        <a:ext cx="453264" cy="1133161"/>
      </dsp:txXfrm>
    </dsp:sp>
    <dsp:sp modelId="{84CA6990-2D5D-47C3-9020-DF2944DEADCF}">
      <dsp:nvSpPr>
        <dsp:cNvPr id="16" name="Rectangles 15" hidden="1"/>
        <dsp:cNvSpPr/>
      </dsp:nvSpPr>
      <dsp:spPr>
        <a:xfrm>
          <a:off x="2753514" y="1609089"/>
          <a:ext cx="453264" cy="1133161"/>
        </a:xfrm>
        <a:prstGeom prst="rect">
          <a:avLst/>
        </a:prstGeom>
      </dsp:spPr>
      <dsp:txXfrm>
        <a:off x="2753514" y="1609089"/>
        <a:ext cx="453264" cy="11331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Medical Compass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518249128_122178781316496076_7326980909732968588_n__4_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2080"/>
            <a:ext cx="188595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Introduction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2" algn="l"/>
            <a:r>
              <a:rPr lang="en-US" altLang="en-US"/>
              <a:t>A specialized digital brand dedicated to delivering accurate health information, aiming to simplify complex medical knowledge and promote the concept of prevention as the first step towards a healthier life.</a:t>
            </a:r>
            <a:endParaRPr lang="en-US" altLang="en-US"/>
          </a:p>
          <a:p>
            <a:pPr lvl="2" algn="l"/>
            <a:endParaRPr lang="en-US" altLang="en-US"/>
          </a:p>
          <a:p>
            <a:pPr lvl="2" algn="l"/>
            <a:r>
              <a:rPr lang="en-US" altLang="en-US"/>
              <a:t>**We focus specifically on six core areas: Diabetes, Sports &amp; Fitness, Obesity, Mental Health, Ophthalmic Diseases, and Hyperbaric Oxygen Therapy (HBOT).</a:t>
            </a:r>
            <a:endParaRPr lang="en-US" altLang="en-US"/>
          </a:p>
          <a:p>
            <a:pPr lvl="2" algn="l"/>
            <a:endParaRPr lang="en-US" altLang="en-US"/>
          </a:p>
          <a:p>
            <a:pPr lvl="2" algn="l"/>
            <a:r>
              <a:rPr lang="en-US" altLang="en-US"/>
              <a:t>Through reliable content and collaboration with a selection of elite doctors and experts, we strive to present medical insights in an accessible and easy way for everyone.</a:t>
            </a:r>
            <a:endParaRPr lang="en-US" altLang="en-US"/>
          </a:p>
          <a:p>
            <a:pPr lvl="2" algn="l"/>
            <a:endParaRPr lang="en-US" altLang="en-US"/>
          </a:p>
          <a:p>
            <a:pPr lvl="2" algn="l"/>
            <a:r>
              <a:rPr lang="en-US" altLang="en-US"/>
              <a:t>Our vision is for accurate information to be the compass guiding every individual towards choosing a healthy and sustainable lifestyle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Business Model Canvas (BMC)</a:t>
            </a:r>
            <a:endParaRPr lang="en-US" b="1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1" cy="4783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59356"/>
                <a:gridCol w="1746885"/>
                <a:gridCol w="2103120"/>
                <a:gridCol w="2103120"/>
              </a:tblGrid>
              <a:tr h="1020445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key parteners: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meta </a:t>
                      </a:r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key activities: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marketing 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review the medical information by specialied physician </a:t>
                      </a:r>
                      <a:endParaRPr lang="en-US" altLang="en-US"/>
                    </a:p>
                  </a:txBody>
                  <a:tcPr/>
                </a:tc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value proposition  :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ar-EG" altLang="en-US"/>
                        <a:t>المعلومة الطبية المبسطة </a:t>
                      </a:r>
                      <a:endParaRPr lang="ar-EG" altLang="en-US"/>
                    </a:p>
                    <a:p>
                      <a:pPr>
                        <a:buNone/>
                      </a:pPr>
                      <a:r>
                        <a:rPr lang="ar-EG" altLang="en-US"/>
                        <a:t>التعريف بالاطباء و المراكز الطبية المشهورة </a:t>
                      </a:r>
                      <a:endParaRPr lang="ar-EG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relationships :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mass customers </a:t>
                      </a:r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customer segment :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medical students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 mothers who are worry about their childern’s health</a:t>
                      </a:r>
                      <a:endParaRPr lang="en-US" altLang="en-US"/>
                    </a:p>
                    <a:p>
                      <a:pPr>
                        <a:buNone/>
                      </a:pP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young professional </a:t>
                      </a:r>
                      <a:endParaRPr lang="en-US" altLang="en-US"/>
                    </a:p>
                  </a:txBody>
                  <a:tcPr/>
                </a:tc>
              </a:tr>
              <a:tr h="44259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channels :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social media 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website </a:t>
                      </a:r>
                      <a:endParaRPr lang="en-US"/>
                    </a:p>
                  </a:txBody>
                  <a:tcPr/>
                </a:tc>
                <a:tc vMerge="1">
                  <a:tcPr/>
                </a:tc>
              </a:tr>
              <a:tr h="128016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key resources: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content tools: canva , capcut, meta business suite 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HR: graphic designer , content creator </a:t>
                      </a:r>
                      <a:endParaRPr lang="en-US" altLang="en-US"/>
                    </a:p>
                  </a:txBody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040255"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Cost sttructure: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program subscrption like canva and capcut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doctor reviews, meta ads , google ads , domain subscribtion , </a:t>
                      </a:r>
                      <a:endParaRPr lang="en-US"/>
                    </a:p>
                  </a:txBody>
                  <a:tcPr/>
                </a:tc>
                <a:tc hMerge="1">
                  <a:tcPr/>
                </a:tc>
                <a:tc gridSpan="3"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Revenue streams: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subscription for our ads</a:t>
                      </a:r>
                      <a:endParaRPr 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b="1"/>
              <a:t>SMART Objectives :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>
                <a:sym typeface="+mn-ea"/>
              </a:rPr>
              <a:t> Increase awareness among the target audience (ages 18-50) about six key health topics: Obesity, Diabetes, Pediatrics, Eye Diseases, Sports Medicine, and Oxygen Therapy through simplified and reliable medical content.</a:t>
            </a:r>
            <a:endParaRPr lang="en-US"/>
          </a:p>
          <a:p>
            <a:r>
              <a:rPr lang="en-US">
                <a:ea typeface="+mn-lt"/>
                <a:cs typeface="+mn-lt"/>
                <a:sym typeface="+mn-ea"/>
              </a:rPr>
              <a:t>•Reach at least 2000 people on digital platforms within 6 months, with an</a:t>
            </a:r>
            <a:endParaRPr lang="en-US"/>
          </a:p>
          <a:p>
            <a:r>
              <a:rPr lang="en-US">
                <a:ea typeface="+mn-lt"/>
                <a:cs typeface="+mn-lt"/>
                <a:sym typeface="+mn-ea"/>
              </a:rPr>
              <a:t>engagement rate of no less than 15% on posts.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sym typeface="+mn-ea"/>
              </a:rPr>
              <a:t>•Produce 3 awareness posts per week, 2 short videos per month, and simplified articles in collaboration with 2-3 medical specialists to ensure credibility.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sym typeface="+mn-ea"/>
              </a:rPr>
              <a:t>•• Within 6 months, deliver 72 awareness posts, 12 short.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SWOT Analysis </a:t>
            </a:r>
            <a:endParaRPr lang="en-US" altLang="en-US" b="1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38200" y="1496695"/>
          <a:ext cx="10515600" cy="5137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22428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strength </a:t>
                      </a:r>
                      <a:r>
                        <a:rPr lang="en-US"/>
                        <a:t>:</a:t>
                      </a:r>
                      <a:endParaRPr lang="en-US"/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 dirty="0">
                          <a:solidFill>
                            <a:srgbClr val="03045E"/>
                          </a:solidFill>
                          <a:ea typeface="Eastman Grotesque"/>
                          <a:cs typeface="+mn-lt"/>
                          <a:sym typeface="Eastman Grotesque"/>
                        </a:rPr>
                        <a:t>Arabic-focused medical content filling a major market gap.</a:t>
                      </a:r>
                      <a:endParaRPr lang="en-US" altLang="en-US" sz="1800" b="0" dirty="0">
                        <a:solidFill>
                          <a:srgbClr val="03045E"/>
                        </a:solidFill>
                        <a:ea typeface="Eastman Grotesque"/>
                        <a:cs typeface="+mn-lt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en-US" sz="1800" b="0" dirty="0">
                        <a:solidFill>
                          <a:srgbClr val="03045E"/>
                        </a:solidFill>
                        <a:ea typeface="Eastman Grotesque"/>
                        <a:cs typeface="+mn-lt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rgbClr val="03045E"/>
                          </a:solidFill>
                          <a:ea typeface="Eastman Grotesque"/>
                          <a:cs typeface="+mn-lt"/>
                          <a:sym typeface="Eastman Grotesque"/>
                        </a:rPr>
                        <a:t>varity of content formats like posts , images , videos </a:t>
                      </a:r>
                      <a:endParaRPr lang="en-US" sz="1800" b="0" dirty="0">
                        <a:solidFill>
                          <a:srgbClr val="03045E"/>
                        </a:solidFill>
                        <a:ea typeface="Eastman Grotesque"/>
                        <a:cs typeface="+mn-lt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800" b="0" dirty="0">
                        <a:solidFill>
                          <a:srgbClr val="03045E"/>
                        </a:solidFill>
                        <a:ea typeface="Eastman Grotesque"/>
                        <a:cs typeface="+mn-lt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solidFill>
                            <a:srgbClr val="03045E"/>
                          </a:solidFill>
                          <a:ea typeface="Eastman Grotesque"/>
                          <a:cs typeface="+mn-lt"/>
                          <a:sym typeface="Eastman Grotesque"/>
                        </a:rPr>
                        <a:t>up-to-date information</a:t>
                      </a:r>
                      <a:endParaRPr lang="en-US" b="0"/>
                    </a:p>
                    <a:p>
                      <a:pPr>
                        <a:buNone/>
                      </a:pP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weakness: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new brand </a:t>
                      </a: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most of the admin are not in the medical fields</a:t>
                      </a: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Potential misunderstanding of medical content.</a:t>
                      </a: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Difficulty in buildin g trust and engagment.</a:t>
                      </a:r>
                      <a:endParaRPr 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>
                        <a:buNone/>
                      </a:pPr>
                      <a:endParaRPr lang="en-US" b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28949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opportunities</a:t>
                      </a:r>
                      <a:r>
                        <a:rPr lang="en-US"/>
                        <a:t>:</a:t>
                      </a:r>
                      <a:endParaRPr lang="en-US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>
                          <a:sym typeface="+mn-ea"/>
                        </a:rPr>
                        <a:t>Scarcity of reliable Arabic health platforms.</a:t>
                      </a:r>
                      <a:endParaRPr lang="en-US" alt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alt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>
                          <a:sym typeface="+mn-ea"/>
                        </a:rPr>
                        <a:t>Mobile app expansion for better accessibility.</a:t>
                      </a:r>
                      <a:endParaRPr lang="en-US" alt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alt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>
                          <a:sym typeface="+mn-ea"/>
                        </a:rPr>
                        <a:t>Collaborations with hospitals or public health bodies.</a:t>
                      </a:r>
                      <a:endParaRPr lang="en-US" alt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altLang="en-US" sz="18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>
                          <a:sym typeface="+mn-ea"/>
                        </a:rPr>
                        <a:t>Positioning as a regional health authority.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threats</a:t>
                      </a:r>
                      <a:r>
                        <a:rPr lang="en-US"/>
                        <a:t>:</a:t>
                      </a:r>
                      <a:endParaRPr lang="en-US"/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Competition from major platforms (e.g., Altibbi, WebMD).</a:t>
                      </a: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Censorship or regulatory restrictions.</a:t>
                      </a: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Spread of misinformation without proper moderation.</a:t>
                      </a: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altLang="en-US" sz="1800" b="0">
                        <a:solidFill>
                          <a:srgbClr val="03045E"/>
                        </a:solidFill>
                        <a:latin typeface="Calibri" panose="020F0502020204030204" charset="0"/>
                        <a:ea typeface="Eastman Grotesque"/>
                        <a:cs typeface="Calibri" panose="020F0502020204030204" charset="0"/>
                        <a:sym typeface="Eastman Grotesque"/>
                      </a:endParaRPr>
                    </a:p>
                    <a:p>
                      <a:pPr marL="285750" indent="-285750" algn="just">
                        <a:lnSpc>
                          <a:spcPts val="1750"/>
                        </a:lnSpc>
                        <a:spcBef>
                          <a:spcPct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800" b="0">
                          <a:solidFill>
                            <a:srgbClr val="03045E"/>
                          </a:solidFill>
                          <a:latin typeface="Calibri" panose="020F0502020204030204" charset="0"/>
                          <a:ea typeface="Eastman Grotesque"/>
                          <a:cs typeface="Calibri" panose="020F0502020204030204" charset="0"/>
                          <a:sym typeface="Eastman Grotesque"/>
                        </a:rPr>
                        <a:t>Reputation threats via fake reviews or cyberattacks.</a:t>
                      </a:r>
                      <a:endParaRPr lang="en-US" sz="1800">
                        <a:solidFill>
                          <a:srgbClr val="03045E"/>
                        </a:solidFill>
                        <a:latin typeface="Eastman Grotesque"/>
                        <a:ea typeface="Eastman Grotesque"/>
                        <a:cs typeface="Eastman Grotesque"/>
                        <a:sym typeface="Eastman Grotesque"/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Marketing Mix: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The marketing mix strategy for the mental health awareness campaign is based on the 4Ps framework—Product, Price, Place, and Promotion—designed to effectively deliver public health education. </a:t>
            </a:r>
            <a:endParaRPr lang="en-US">
              <a:latin typeface="Book Antiqua" panose="02040602050305030304"/>
              <a:ea typeface="+mn-lt"/>
              <a:cs typeface="+mn-lt"/>
              <a:sym typeface="+mn-ea"/>
            </a:endParaRPr>
          </a:p>
          <a:p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The </a:t>
            </a:r>
            <a:r>
              <a:rPr lang="en-US" b="1">
                <a:latin typeface="Book Antiqua" panose="02040602050305030304"/>
                <a:ea typeface="+mn-lt"/>
                <a:cs typeface="+mn-lt"/>
                <a:sym typeface="+mn-ea"/>
              </a:rPr>
              <a:t>Product</a:t>
            </a:r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 includes a digital platform offering free, high-quality Arabic mental health content such as videos, blogs, self-assessment tools, and expert-led webinars.</a:t>
            </a:r>
            <a:endParaRPr lang="en-US">
              <a:latin typeface="Book Antiqua" panose="02040602050305030304"/>
              <a:ea typeface="+mn-lt"/>
              <a:cs typeface="+mn-lt"/>
              <a:sym typeface="+mn-ea"/>
            </a:endParaRPr>
          </a:p>
          <a:p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 The </a:t>
            </a:r>
            <a:r>
              <a:rPr lang="en-US" b="1">
                <a:latin typeface="Book Antiqua" panose="02040602050305030304"/>
                <a:ea typeface="+mn-lt"/>
                <a:cs typeface="+mn-lt"/>
                <a:sym typeface="+mn-ea"/>
              </a:rPr>
              <a:t>Price</a:t>
            </a:r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 model focuses on inclusivity, providing most services for free with optional low-cost add-ons like private consultations or exclusive content.</a:t>
            </a:r>
            <a:endParaRPr lang="en-US">
              <a:latin typeface="Book Antiqua" panose="02040602050305030304"/>
              <a:ea typeface="+mn-lt"/>
              <a:cs typeface="+mn-lt"/>
              <a:sym typeface="+mn-ea"/>
            </a:endParaRPr>
          </a:p>
          <a:p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 For </a:t>
            </a:r>
            <a:r>
              <a:rPr lang="en-US" b="1">
                <a:latin typeface="Book Antiqua" panose="02040602050305030304"/>
                <a:ea typeface="+mn-lt"/>
                <a:cs typeface="+mn-lt"/>
                <a:sym typeface="+mn-ea"/>
              </a:rPr>
              <a:t>Place</a:t>
            </a:r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, the campaign ensures wide accessibility through mobile-friendly platforms, social media channels, and messaging apps to reach users where they are most active. </a:t>
            </a:r>
            <a:endParaRPr lang="en-US">
              <a:latin typeface="Book Antiqua" panose="02040602050305030304"/>
              <a:ea typeface="+mn-lt"/>
              <a:cs typeface="+mn-lt"/>
              <a:sym typeface="+mn-ea"/>
            </a:endParaRPr>
          </a:p>
          <a:p>
            <a:r>
              <a:rPr lang="en-US" b="1">
                <a:latin typeface="Book Antiqua" panose="02040602050305030304"/>
                <a:ea typeface="+mn-lt"/>
                <a:cs typeface="+mn-lt"/>
                <a:sym typeface="+mn-ea"/>
              </a:rPr>
              <a:t>Promotion</a:t>
            </a:r>
            <a:r>
              <a:rPr lang="en-US">
                <a:latin typeface="Book Antiqua" panose="02040602050305030304"/>
                <a:ea typeface="+mn-lt"/>
                <a:cs typeface="+mn-lt"/>
                <a:sym typeface="+mn-ea"/>
              </a:rPr>
              <a:t> centers on engaging and educational content marketing, partnerships with local influencers, live Q&amp;A sessions, mental health challenges, and community-driven campaigns.</a:t>
            </a:r>
            <a:endParaRPr lang="en-US">
              <a:latin typeface="Book Antiqua" panose="020406020503050303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account analysis:</a:t>
            </a:r>
            <a:endParaRPr lang="en-US" altLang="en-US"/>
          </a:p>
        </p:txBody>
      </p:sp>
      <p:pic>
        <p:nvPicPr>
          <p:cNvPr id="5" name="Picture 4" descr="Screenshot (7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625" y="90170"/>
            <a:ext cx="10417175" cy="582422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79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80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09665" y="770255"/>
            <a:ext cx="5779770" cy="5772150"/>
          </a:xfrm>
          <a:prstGeom prst="rect">
            <a:avLst/>
          </a:prstGeom>
        </p:spPr>
      </p:pic>
      <p:pic>
        <p:nvPicPr>
          <p:cNvPr id="5" name="Picture 4" descr="Screenshot (8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770890"/>
            <a:ext cx="5444490" cy="5662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82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26835" y="364490"/>
            <a:ext cx="5160010" cy="5356860"/>
          </a:xfrm>
          <a:prstGeom prst="rect">
            <a:avLst/>
          </a:prstGeom>
        </p:spPr>
      </p:pic>
      <p:pic>
        <p:nvPicPr>
          <p:cNvPr id="5" name="Picture 4" descr="Screenshot (8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" y="365125"/>
            <a:ext cx="5638800" cy="5514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 descr="Screenshot (84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Compatitve Analysis: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66335" cy="4351655"/>
          </a:xfrm>
        </p:spPr>
        <p:txBody>
          <a:bodyPr/>
          <a:p>
            <a:r>
              <a:rPr lang="en-US" b="1">
                <a:solidFill>
                  <a:schemeClr val="tx1"/>
                </a:solidFill>
                <a:latin typeface="Calibri" panose="020F0502020204030204" charset="0"/>
                <a:ea typeface="XM Vahid Bold" panose="020B0604020202020204"/>
                <a:cs typeface="Calibri" panose="020F0502020204030204" charset="0"/>
                <a:sym typeface="XM Vahid Bold" panose="020B0604020202020204"/>
              </a:rPr>
              <a:t>altibbi</a:t>
            </a:r>
            <a:endParaRPr lang="en-US" b="1">
              <a:solidFill>
                <a:schemeClr val="tx1"/>
              </a:solidFill>
              <a:latin typeface="Calibri" panose="020F0502020204030204" charset="0"/>
              <a:ea typeface="XM Vahid Bold" panose="020B0604020202020204"/>
              <a:cs typeface="Calibri" panose="020F0502020204030204" charset="0"/>
              <a:sym typeface="XM Vahid Bold" panose="020B0604020202020204"/>
            </a:endParaRPr>
          </a:p>
          <a:p>
            <a:endParaRPr lang="en-US" b="1">
              <a:solidFill>
                <a:schemeClr val="tx1"/>
              </a:solidFill>
              <a:latin typeface="Calibri" panose="020F0502020204030204" charset="0"/>
              <a:ea typeface="XM Vahid Bold" panose="020B0604020202020204"/>
              <a:cs typeface="Calibri" panose="020F0502020204030204" charset="0"/>
              <a:sym typeface="XM Vahid Bold" panose="020B0604020202020204"/>
            </a:endParaRPr>
          </a:p>
          <a:p>
            <a:r>
              <a:rPr lang="en-US" b="1">
                <a:solidFill>
                  <a:schemeClr val="tx1"/>
                </a:solidFill>
                <a:latin typeface="Calibri" panose="020F0502020204030204" charset="0"/>
                <a:ea typeface="XM Vahid Bold" panose="020B0604020202020204"/>
                <a:cs typeface="Calibri" panose="020F0502020204030204" charset="0"/>
                <a:sym typeface="XM Vahid Bold" panose="020B0604020202020204"/>
              </a:rPr>
              <a:t>A full-service medical platform offering a mobile app and Facebook page, allowing users to book appointments across all medical specialties</a:t>
            </a:r>
            <a:r>
              <a:rPr lang="ar-EG" b="1">
                <a:solidFill>
                  <a:schemeClr val="tx1"/>
                </a:solidFill>
                <a:latin typeface="Calibri" panose="020F0502020204030204" charset="0"/>
                <a:ea typeface="XM Vahid Bold" panose="020B0604020202020204"/>
                <a:cs typeface="Calibri" panose="020F0502020204030204" charset="0"/>
                <a:sym typeface="XM Vahid Bold" panose="020B0604020202020204"/>
              </a:rPr>
              <a:t>.</a:t>
            </a:r>
            <a:endParaRPr lang="ar-EG" b="1">
              <a:solidFill>
                <a:schemeClr val="tx1"/>
              </a:solidFill>
              <a:latin typeface="Calibri" panose="020F0502020204030204" charset="0"/>
              <a:ea typeface="XM Vahid Bold" panose="020B0604020202020204"/>
              <a:cs typeface="Calibri" panose="020F0502020204030204" charset="0"/>
              <a:sym typeface="XM Vahid Bold" panose="020B0604020202020204"/>
              <a:rtl val="0"/>
            </a:endParaRPr>
          </a:p>
          <a:p>
            <a:endParaRPr lang="ar-EG" b="1">
              <a:solidFill>
                <a:schemeClr val="tx1"/>
              </a:solidFill>
              <a:latin typeface="Calibri" panose="020F0502020204030204" charset="0"/>
              <a:ea typeface="XM Vahid Bold" panose="020B0604020202020204"/>
              <a:cs typeface="Calibri" panose="020F0502020204030204" charset="0"/>
              <a:sym typeface="XM Vahid Bold" panose="020B0604020202020204"/>
              <a:rtl val="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163945" y="1825625"/>
            <a:ext cx="5109210" cy="4351655"/>
          </a:xfrm>
          <a:custGeom>
            <a:avLst/>
            <a:gdLst/>
            <a:ahLst/>
            <a:cxnLst/>
            <a:rect l="l" t="t" r="r" b="b"/>
            <a:pathLst>
              <a:path w="10218271" h="5747778">
                <a:moveTo>
                  <a:pt x="0" y="0"/>
                </a:moveTo>
                <a:lnTo>
                  <a:pt x="10218272" y="0"/>
                </a:lnTo>
                <a:lnTo>
                  <a:pt x="10218272" y="5747777"/>
                </a:lnTo>
                <a:lnTo>
                  <a:pt x="0" y="574777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sehatak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55540" cy="4351655"/>
          </a:xfrm>
        </p:spPr>
        <p:txBody>
          <a:bodyPr/>
          <a:p>
            <a:r>
              <a:rPr lang="en-US">
                <a:solidFill>
                  <a:srgbClr val="235BEB"/>
                </a:solidFill>
                <a:latin typeface="Calibri" panose="020F0502020204030204" charset="0"/>
                <a:ea typeface="XM Vahid Bold" panose="020B0604020202020204"/>
                <a:cs typeface="Calibri" panose="020F0502020204030204" charset="0"/>
                <a:sym typeface="XM Vahid Bold" panose="020B0604020202020204"/>
              </a:rPr>
              <a:t> comprehensive medical platform available through a website</a:t>
            </a:r>
            <a:endParaRPr lang="en-US">
              <a:solidFill>
                <a:srgbClr val="235BEB"/>
              </a:solidFill>
              <a:latin typeface="Calibri" panose="020F0502020204030204" charset="0"/>
              <a:ea typeface="XM Vahid Bold" panose="020B0604020202020204"/>
              <a:cs typeface="Calibri" panose="020F0502020204030204" charset="0"/>
              <a:sym typeface="XM Vahid Bold" panose="020B0604020202020204"/>
            </a:endParaRPr>
          </a:p>
          <a:p>
            <a:endParaRPr 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6003290" y="2087880"/>
            <a:ext cx="5189220" cy="3943985"/>
          </a:xfrm>
          <a:custGeom>
            <a:avLst/>
            <a:gdLst/>
            <a:ahLst/>
            <a:cxnLst/>
            <a:rect l="l" t="t" r="r" b="b"/>
            <a:pathLst>
              <a:path w="10378779" h="5363357">
                <a:moveTo>
                  <a:pt x="0" y="0"/>
                </a:moveTo>
                <a:lnTo>
                  <a:pt x="10378778" y="0"/>
                </a:lnTo>
                <a:lnTo>
                  <a:pt x="10378778" y="5363357"/>
                </a:lnTo>
                <a:lnTo>
                  <a:pt x="0" y="536335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1543" r="-8888" b="-6982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Super Mama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43550" cy="4351655"/>
          </a:xfrm>
        </p:spPr>
        <p:txBody>
          <a:bodyPr/>
          <a:p>
            <a:r>
              <a:rPr lang="en-US">
                <a:solidFill>
                  <a:schemeClr val="tx1"/>
                </a:solidFill>
                <a:latin typeface="Calibri" panose="020F0502020204030204" charset="0"/>
                <a:ea typeface="XM Vahid Bold" panose="020B0604020202020204"/>
                <a:cs typeface="Calibri" panose="020F0502020204030204" charset="0"/>
                <a:sym typeface="XM Vahid Bold" panose="020B0604020202020204"/>
              </a:rPr>
              <a:t>A specialized website for mothers and children</a:t>
            </a:r>
            <a:endParaRPr lang="en-US">
              <a:solidFill>
                <a:schemeClr val="tx1"/>
              </a:solidFill>
              <a:latin typeface="Calibri" panose="020F0502020204030204" charset="0"/>
              <a:ea typeface="XM Vahid Bold" panose="020B0604020202020204"/>
              <a:cs typeface="Calibri" panose="020F0502020204030204" charset="0"/>
              <a:sym typeface="XM Vahid Bold" panose="020B0604020202020204"/>
            </a:endParaRPr>
          </a:p>
          <a:p>
            <a:endParaRPr lang="en-US">
              <a:solidFill>
                <a:schemeClr val="tx1"/>
              </a:solidFill>
              <a:latin typeface="Calibri" panose="020F0502020204030204" charset="0"/>
              <a:ea typeface="XM Vahid Bold" panose="020B0604020202020204"/>
              <a:cs typeface="Calibri" panose="020F0502020204030204" charset="0"/>
              <a:sym typeface="XM Vahid Bold" panose="020B060402020202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6381115" y="1892300"/>
            <a:ext cx="4972685" cy="4438650"/>
          </a:xfrm>
          <a:custGeom>
            <a:avLst/>
            <a:gdLst/>
            <a:ahLst/>
            <a:cxnLst/>
            <a:rect l="l" t="t" r="r" b="b"/>
            <a:pathLst>
              <a:path w="8742435" h="4917620">
                <a:moveTo>
                  <a:pt x="0" y="0"/>
                </a:moveTo>
                <a:lnTo>
                  <a:pt x="8742435" y="0"/>
                </a:lnTo>
                <a:lnTo>
                  <a:pt x="8742435" y="4917620"/>
                </a:lnTo>
                <a:lnTo>
                  <a:pt x="0" y="491762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" y="647700"/>
            <a:ext cx="3830955" cy="58343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15" y="647065"/>
            <a:ext cx="4452620" cy="58362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590" y="646430"/>
            <a:ext cx="3235325" cy="5835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Segmentation and Buyer Persona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None/>
            </a:pPr>
            <a:r>
              <a:rPr lang="en-US">
                <a:sym typeface="+mn-ea"/>
              </a:rPr>
              <a:t>it’s essential to segment the audience based on: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Who needs the information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How they use the internet</a:t>
            </a:r>
            <a:endParaRPr lang="en-US"/>
          </a:p>
          <a:p>
            <a:pPr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Demographic Segmentation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7330"/>
            <a:ext cx="10515600" cy="46799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2400" b="1"/>
              <a:t>age group:</a:t>
            </a:r>
            <a:endParaRPr lang="en-US" sz="2400" b="1"/>
          </a:p>
          <a:p>
            <a:pPr marL="0" indent="0">
              <a:buNone/>
            </a:pPr>
            <a:r>
              <a:rPr lang="en-US" sz="2400">
                <a:sym typeface="+mn-ea"/>
              </a:rPr>
              <a:t>Focus on ages 18 to 50 with customized content for: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Younger audiences (e.g., child nutrition)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Older audiences (e.g., elderly care)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sym typeface="+mn-ea"/>
              </a:rPr>
              <a:t>Gender</a:t>
            </a:r>
            <a:r>
              <a:rPr lang="en-US" sz="2400">
                <a:sym typeface="+mn-ea"/>
              </a:rPr>
              <a:t>: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Content targets all genders, with specific topics tailored for: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Women: maternal health, reproductive wellness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Men: chronic conditions like hypertension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sym typeface="+mn-ea"/>
              </a:rPr>
              <a:t>Education Level:</a:t>
            </a:r>
            <a:endParaRPr lang="en-US" sz="2400" b="1"/>
          </a:p>
          <a:p>
            <a:pPr marL="0" indent="0">
              <a:buNone/>
            </a:pPr>
            <a:r>
              <a:rPr lang="en-US" sz="2400">
                <a:sym typeface="+mn-ea"/>
              </a:rPr>
              <a:t>Focus on an educated audience or those interested in self-learning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Students, graduates, professionals</a:t>
            </a:r>
            <a:endParaRPr lang="en-US" sz="2400"/>
          </a:p>
          <a:p>
            <a:pPr marL="0" indent="0">
              <a:buNone/>
            </a:pPr>
            <a:r>
              <a:rPr lang="en-US" sz="2000">
                <a:sym typeface="+mn-ea"/>
              </a:rPr>
              <a:t> </a:t>
            </a:r>
            <a:endParaRPr lang="en-US" sz="200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Geographical Segmentation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400" b="1" dirty="0">
                <a:sym typeface="+mn-ea"/>
              </a:rPr>
              <a:t>Location: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The content is mainly targeted at people in Egypt, using simple, clear Arabic that is easy to understand across different dialects.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ym typeface="+mn-ea"/>
              </a:rPr>
              <a:t>Usage Patterns:</a:t>
            </a:r>
            <a:endParaRPr lang="en-US" sz="2400" b="1" dirty="0"/>
          </a:p>
          <a:p>
            <a:pPr marL="0" indent="0">
              <a:buNone/>
            </a:pPr>
            <a:r>
              <a:rPr lang="en-US" sz="2400" dirty="0">
                <a:sym typeface="+mn-ea"/>
              </a:rPr>
              <a:t>Most users access content via mobile devices, especially from major cities like Cairo and Alexandria. So, all content should be mobile-friendly in format and design.</a:t>
            </a:r>
            <a:endParaRPr lang="en-US" sz="2400" dirty="0"/>
          </a:p>
          <a:p>
            <a:pPr marL="0" indent="0"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Buyer Persona : Mother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400">
                <a:sym typeface="+mn-ea"/>
              </a:rPr>
              <a:t>Age: 30 – 50 years old</a:t>
            </a:r>
            <a:endParaRPr lang="en-US" altLang="en-US" sz="2400"/>
          </a:p>
          <a:p>
            <a:r>
              <a:rPr lang="en-US" altLang="en-US" sz="2400">
                <a:sym typeface="+mn-ea"/>
              </a:rPr>
              <a:t>Gender : Female</a:t>
            </a:r>
            <a:endParaRPr lang="en-US" altLang="en-US" sz="2400"/>
          </a:p>
          <a:p>
            <a:r>
              <a:rPr lang="en-US" altLang="en-US" sz="2400">
                <a:sym typeface="+mn-ea"/>
              </a:rPr>
              <a:t>Location : Urban &amp; suburban Egypt (Cairo, Giza, Alexandria, Mansoura, </a:t>
            </a:r>
            <a:endParaRPr lang="en-US" altLang="en-US" sz="2400"/>
          </a:p>
          <a:p>
            <a:r>
              <a:rPr lang="en-US" altLang="en-US" sz="2400">
                <a:sym typeface="+mn-ea"/>
              </a:rPr>
              <a:t>etc.)</a:t>
            </a:r>
            <a:endParaRPr lang="en-US" altLang="en-US" sz="2400"/>
          </a:p>
          <a:p>
            <a:r>
              <a:rPr lang="en-US" altLang="en-US" sz="2400">
                <a:sym typeface="+mn-ea"/>
              </a:rPr>
              <a:t>Education: High school – University</a:t>
            </a:r>
            <a:endParaRPr lang="en-US" altLang="en-US" sz="2400"/>
          </a:p>
          <a:p>
            <a:r>
              <a:rPr lang="en-US" altLang="en-US" sz="2400">
                <a:sym typeface="+mn-ea"/>
              </a:rPr>
              <a:t>Occupation : Homemaker or part-time worker</a:t>
            </a:r>
            <a:endParaRPr lang="en-US" altLang="en-US" sz="2400"/>
          </a:p>
          <a:p>
            <a:r>
              <a:rPr lang="en-US" altLang="en-US" sz="2400">
                <a:sym typeface="+mn-ea"/>
              </a:rPr>
              <a:t>Economic Level : Middle</a:t>
            </a:r>
            <a:endParaRPr lang="en-US" alt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9270"/>
            <a:ext cx="10515600" cy="488251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400" b="1">
                <a:sym typeface="+mn-ea"/>
              </a:rPr>
              <a:t>Psychographics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• Core Values: Family well-being, children’s education &amp; health, stability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• Interests: Parenting groups, school-related health topics, family nutrition,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religious/spiritual well-being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• Lifestyle: Busy with household duties, relies on online communities &amp; TV for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information, trusts recommendations from other mothers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 b="1">
                <a:sym typeface="+mn-ea"/>
              </a:rPr>
              <a:t>Digital Behavior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• Platforms: Facebook (mom groups, health pages), WhatsApp groups, YouTube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(parenting &amp; health tips)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• Content Preference: Simple Arabic explanations, parenting-focused advice, short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>
                <a:sym typeface="+mn-ea"/>
              </a:rPr>
              <a:t>practical videos, infographics to share in groups</a:t>
            </a:r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b="1">
                <a:sym typeface="+mn-ea"/>
              </a:rPr>
              <a:t>Pain Points</a:t>
            </a:r>
            <a:endParaRPr lang="en-US" altLang="en-US" b="1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Anxiety about children’s mental &amp; physical health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Difficulty finding reliable medical advice online in Arabic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Worry about social stigma if her child needs psychological support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Overwhelmed with misinformation from social media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Goals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Ensure her children’s health &amp; mental well-being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Learn how to spot early signs of stress/anxiety in kids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• Get simple, practical advice to apply in daily family life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Content Plan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awarness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posts about the defention and sign and symptoms of diseases like diabetes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educational posts  and reels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 altLang="ar-EG"/>
                        <a:t>tips post </a:t>
                      </a:r>
                      <a:endParaRPr lang="en-US" altLang="ar-EG"/>
                    </a:p>
                    <a:p>
                      <a:pPr>
                        <a:buNone/>
                      </a:pPr>
                      <a:r>
                        <a:rPr lang="en-US" altLang="ar-EG"/>
                        <a:t>polls </a:t>
                      </a:r>
                      <a:endParaRPr lang="en-US" altLang="ar-EG"/>
                    </a:p>
                    <a:p>
                      <a:pPr>
                        <a:buNone/>
                      </a:pPr>
                      <a:r>
                        <a:rPr lang="en-US" altLang="ar-EG"/>
                        <a:t>infograph</a:t>
                      </a:r>
                      <a:endParaRPr lang="en-US" altLang="ar-EG"/>
                    </a:p>
                    <a:p>
                      <a:pPr>
                        <a:buNone/>
                      </a:pPr>
                      <a:endParaRPr lang="en-US" altLang="ar-EG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Content Plan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Engagment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content </a:t>
                      </a:r>
                      <a:endParaRPr 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ar-EG" altLang="en-US"/>
                        <a:t>انفوجرافبيك عن الاعاراض المبكرة لمرض السكر </a:t>
                      </a:r>
                      <a:endParaRPr lang="ar-EG" altLang="en-US"/>
                    </a:p>
                    <a:p>
                      <a:pPr>
                        <a:buNone/>
                      </a:pPr>
                      <a:r>
                        <a:rPr lang="ar-EG" altLang="en-US"/>
                        <a:t>فيديو دكتور بيرد على سؤال مهم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ar-EG" altLang="en-US"/>
                        <a:t>ريلز عن معلومة صحية قصيرة فى 30 ثانية استورى شاركونا  العادات المفيدة  الى بتعملوها فى الصباح او قبل النوم 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ar-EG" altLang="en-US"/>
                        <a:t>تصميم بسيط عن تصحيح مفاهيم مغلوطة </a:t>
                      </a:r>
                      <a:endParaRPr lang="ar-EG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poll </a:t>
                      </a:r>
                      <a:r>
                        <a:rPr lang="ar-EG" altLang="en-US"/>
                        <a:t> بتنام كام ساعة فى اليوم و نقدر نحسب قدرتك الانتاجية 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CTA 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Content Plan </a:t>
            </a:r>
            <a:endParaRPr lang="en-US"/>
          </a:p>
        </p:txBody>
      </p:sp>
      <p:graphicFrame>
        <p:nvGraphicFramePr>
          <p:cNvPr id="6" name="Content Placeholder 5"/>
          <p:cNvGraphicFramePr/>
          <p:nvPr>
            <p:ph idx="1"/>
          </p:nvPr>
        </p:nvGraphicFramePr>
        <p:xfrm>
          <a:off x="838200" y="1825625"/>
          <a:ext cx="10515600" cy="4256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985"/>
                <a:gridCol w="2673985"/>
                <a:gridCol w="5167630"/>
              </a:tblGrid>
              <a:tr h="551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type of campaign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type of content </a:t>
                      </a:r>
                      <a:endParaRPr lang="en-US"/>
                    </a:p>
                  </a:txBody>
                  <a:tcPr/>
                </a:tc>
              </a:tr>
              <a:tr h="9264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increase the number of followers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carousal , trending reel </a:t>
                      </a:r>
                      <a:r>
                        <a:rPr lang="ar-EG"/>
                        <a:t>مع معلومة صحية قصيرة </a:t>
                      </a:r>
                      <a:r>
                        <a:rPr lang="en-US"/>
                        <a:t>, meme , post : myths vs fact</a:t>
                      </a:r>
                      <a:endParaRPr lang="en-US"/>
                    </a:p>
                  </a:txBody>
                  <a:tcPr/>
                </a:tc>
              </a:tr>
              <a:tr h="92646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week2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 </a:t>
                      </a:r>
                      <a:r>
                        <a:rPr lang="ar-EG"/>
                        <a:t>تمارين مكتبية سريعة </a:t>
                      </a:r>
                      <a:r>
                        <a:rPr lang="en-US"/>
                        <a:t>, story quiz , post </a:t>
                      </a:r>
                      <a:r>
                        <a:rPr lang="ar-EG"/>
                        <a:t> هل تعلم </a:t>
                      </a:r>
                      <a:r>
                        <a:rPr lang="en-US"/>
                        <a:t>, carousal </a:t>
                      </a:r>
                      <a:r>
                        <a:rPr lang="ar-EG"/>
                        <a:t> اطعمة تقوى المناعة </a:t>
                      </a:r>
                      <a:endParaRPr lang="ar-EG"/>
                    </a:p>
                  </a:txBody>
                  <a:tcPr/>
                </a:tc>
              </a:tr>
              <a:tr h="92583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week 3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infograph </a:t>
                      </a:r>
                      <a:r>
                        <a:rPr lang="ar-EG"/>
                        <a:t> حقائق رقمية </a:t>
                      </a:r>
                      <a:r>
                        <a:rPr lang="en-US"/>
                        <a:t>, story : ask me anything ,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meme </a:t>
                      </a:r>
                      <a:r>
                        <a:rPr lang="ar-EG"/>
                        <a:t>او صورة خفيفة </a:t>
                      </a:r>
                      <a:endParaRPr lang="ar-EG"/>
                    </a:p>
                  </a:txBody>
                  <a:tcPr/>
                </a:tc>
              </a:tr>
              <a:tr h="92646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week 4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 </a:t>
                      </a:r>
                      <a:r>
                        <a:rPr lang="ar-EG"/>
                        <a:t>باحصائية رقمية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post </a:t>
                      </a:r>
                      <a:r>
                        <a:rPr lang="ar-EG"/>
                        <a:t> اقتباس او كلمة ملهمة من طبيب معين </a:t>
                      </a:r>
                      <a:endParaRPr lang="ar-EG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type of campaign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type of content 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increase the number of content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week1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reel(</a:t>
                      </a:r>
                      <a:r>
                        <a:rPr lang="ar-EG"/>
                        <a:t>معلومة فى 10 ثوانى </a:t>
                      </a:r>
                      <a:r>
                        <a:rPr lang="en-US"/>
                        <a:t>)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ar-EG" altLang="en-US"/>
                        <a:t>كاورسيل اخطاء شائعة فى اسلوب الحياة </a:t>
                      </a:r>
                      <a:endParaRPr lang="ar-EG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post: myths vs facts 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week2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video </a:t>
                      </a:r>
                      <a:r>
                        <a:rPr lang="ar-EG"/>
                        <a:t>عن الاعراض الشائعة و المضاعفات لمرض السكر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post  </a:t>
                      </a:r>
                      <a:r>
                        <a:rPr lang="ar-EG" altLang="en-US"/>
                        <a:t>اطعمة تنظم مرض السكر </a:t>
                      </a:r>
                      <a:endParaRPr lang="ar-EG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week 3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reel </a:t>
                      </a:r>
                      <a:r>
                        <a:rPr lang="ar-EG"/>
                        <a:t>يوضح الفرق بين  التمارين المختلفة زى الكارديو و المقاومة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story poll </a:t>
                      </a:r>
                      <a:r>
                        <a:rPr lang="ar-EG"/>
                        <a:t> عن اى موضوع جديد حابين يتكلموا فيه </a:t>
                      </a:r>
                      <a:endParaRPr lang="ar-EG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 week 4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video motion graphic </a:t>
                      </a:r>
                      <a:r>
                        <a:rPr lang="ar-EG"/>
                        <a:t> يوضح ازاى نقدر نفرق بين القلق الطبيعى و القلق المرضى </a:t>
                      </a:r>
                      <a:endParaRPr lang="ar-EG"/>
                    </a:p>
                    <a:p>
                      <a:pPr>
                        <a:buNone/>
                      </a:pPr>
                      <a:r>
                        <a:rPr lang="en-US"/>
                        <a:t>post : tips and tricks </a:t>
                      </a:r>
                      <a:r>
                        <a:rPr lang="ar-EG"/>
                        <a:t>5 طرق بسيطة للتعامل مع التوتر الصباحي </a:t>
                      </a:r>
                      <a:endParaRPr lang="ar-EG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ar-EG"/>
              <a:t>بوست تفاعلى عن الصحة النفسية </a:t>
            </a:r>
            <a:endParaRPr lang="ar-EG"/>
          </a:p>
        </p:txBody>
      </p:sp>
      <p:pic>
        <p:nvPicPr>
          <p:cNvPr id="6" name="Content Placeholder 5" descr="WhatsApp Image 2025-09-20 at 10.54.12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2180" y="1825625"/>
            <a:ext cx="5328285" cy="43516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259830" y="1534160"/>
            <a:ext cx="4998085" cy="4642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هل جربت قبل كده تاثير الامتنان على صحتك النفسية ؟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علم النفس بياكد ان ممارسة عادة المتنان (انك تكتب الحاجات اللى انت ممتن ليها فى يومك) ليها فوائد قوية :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1- بتقلل التوتر و القلق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2- بتحسن جودة النوم 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3- تقوى المرونة النفسية فى مواجهة الضغوط 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4- بتزود مشاعر الرضا و السعادة </a:t>
            </a:r>
            <a:endParaRPr lang="ar-EG" altLang="ar-SA"/>
          </a:p>
          <a:p>
            <a:pPr marL="0" indent="0" algn="r" fontAlgn="auto">
              <a:buNone/>
            </a:pP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مجرد كتابة 3 حاجات بسيطة يوميا انت ممتن ليها حصلت معاك زى مثلا (صديق وقف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 جمبك - اكله حلوة ) بتساعد مخك يركز على الايجابيات بدل السلبيات </a:t>
            </a:r>
            <a:endParaRPr lang="ar-EG" altLang="ar-SA"/>
          </a:p>
          <a:p>
            <a:pPr marL="0" indent="0" algn="r" fontAlgn="auto">
              <a:buNone/>
            </a:pP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اكتبلنا فى الكومنتات : ايه الحاجة اللى انت ممتن ليها النهاردة </a:t>
            </a:r>
            <a:endParaRPr lang="ar-EG" altLang="ar-SA"/>
          </a:p>
          <a:p>
            <a:pPr marL="0" indent="0" algn="r" fontAlgn="auto">
              <a:buNone/>
            </a:pPr>
            <a:r>
              <a:rPr lang="ar-EG" altLang="ar-SA">
                <a:sym typeface="+mn-ea"/>
              </a:rPr>
              <a:t>#البوصلة-الطبية #صحة نفسية 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5700" y="1825625"/>
            <a:ext cx="7658100" cy="4351655"/>
          </a:xfrm>
        </p:spPr>
        <p:txBody>
          <a:bodyPr>
            <a:normAutofit fontScale="60000"/>
          </a:bodyPr>
          <a:p>
            <a:pPr marL="0" indent="0" algn="r">
              <a:buNone/>
            </a:pPr>
            <a:r>
              <a:rPr lang="ar-EG" altLang="ar-SA">
                <a:sym typeface="+mn-ea"/>
              </a:rPr>
              <a:t>حقيقة ام خرافة ؟</a:t>
            </a:r>
            <a:endParaRPr lang="ar-EG" altLang="ar-SA"/>
          </a:p>
          <a:p>
            <a:pPr marL="0" indent="0" algn="r">
              <a:buNone/>
            </a:pPr>
            <a:endParaRPr lang="ar-EG" altLang="ar-SA"/>
          </a:p>
          <a:p>
            <a:pPr marL="0" indent="0" algn="r">
              <a:buNone/>
            </a:pPr>
            <a:r>
              <a:rPr lang="ar-EG" altLang="ar-SA">
                <a:sym typeface="+mn-ea"/>
              </a:rPr>
              <a:t>“العلاج بالاوزون بيعالج كل الامراض بدون اى مخاطر “</a:t>
            </a:r>
            <a:endParaRPr lang="ar-EG" altLang="ar-SA"/>
          </a:p>
          <a:p>
            <a:pPr marL="0" indent="0" algn="r">
              <a:buNone/>
            </a:pPr>
            <a:r>
              <a:rPr lang="ar-EG" altLang="ar-SA">
                <a:sym typeface="+mn-ea"/>
              </a:rPr>
              <a:t> الخرافة : في ناس فاكرة ان الاوزون حل سحرى لكل الحالات و مفهيوش أى آثار جانبية </a:t>
            </a:r>
            <a:endParaRPr lang="ar-EG" altLang="ar-SA"/>
          </a:p>
          <a:p>
            <a:pPr marL="0" indent="0" algn="r">
              <a:buNone/>
            </a:pPr>
            <a:r>
              <a:rPr lang="ar-EG" altLang="ar-SA">
                <a:sym typeface="+mn-ea"/>
              </a:rPr>
              <a:t>حقيقة : العلاج بالاوزون ليه استخدامات طبية محدودة و بتم بشكل مدروس تحت اشراف طبيب متخصص </a:t>
            </a:r>
            <a:endParaRPr lang="ar-EG" altLang="ar-SA"/>
          </a:p>
          <a:p>
            <a:pPr marL="0" indent="0" algn="r">
              <a:buNone/>
            </a:pPr>
            <a:r>
              <a:rPr lang="ar-EG" altLang="ar-SA">
                <a:sym typeface="+mn-ea"/>
              </a:rPr>
              <a:t>فى العلاج بالاوزون لسه فى ابحاث بتتعمل لتاكيد فعاليته و امانه </a:t>
            </a:r>
            <a:endParaRPr lang="ar-EG" altLang="ar-SA"/>
          </a:p>
          <a:p>
            <a:pPr marL="0" indent="0" algn="r">
              <a:buNone/>
            </a:pPr>
            <a:endParaRPr lang="ar-EG" altLang="ar-SA"/>
          </a:p>
          <a:p>
            <a:pPr marL="0" indent="0" algn="r">
              <a:buNone/>
            </a:pPr>
            <a:r>
              <a:rPr lang="ar-EG" altLang="ar-SA">
                <a:sym typeface="+mn-ea"/>
              </a:rPr>
              <a:t>النصيحة : الاوزون مش بديل للعلاج الطبى التقليدي , لكن ممكن يكون مساعد فى بعض الحالات لما الطبيب يوصى بيه </a:t>
            </a:r>
            <a:endParaRPr lang="ar-EG" altLang="ar-SA"/>
          </a:p>
          <a:p>
            <a:pPr marL="0" indent="0" algn="r">
              <a:buNone/>
            </a:pPr>
            <a:endParaRPr lang="ar-EG" altLang="ar-SA"/>
          </a:p>
          <a:p>
            <a:pPr marL="0" indent="0" algn="r">
              <a:buNone/>
            </a:pPr>
            <a:r>
              <a:rPr lang="ar-EG" altLang="ar-SA">
                <a:sym typeface="+mn-ea"/>
              </a:rPr>
              <a:t>شاركنا : سمعت ايه عن العلاج بالاوزون قبل كد؟ </a:t>
            </a:r>
            <a:endParaRPr lang="ar-EG" altLang="ar-SA"/>
          </a:p>
          <a:p>
            <a:pPr marL="0" indent="0" algn="r">
              <a:buNone/>
            </a:pPr>
            <a:r>
              <a:rPr lang="ar-EG" altLang="ar-SA">
                <a:sym typeface="+mn-ea"/>
              </a:rPr>
              <a:t>#البوصلة الطبية </a:t>
            </a:r>
            <a:endParaRPr lang="en-US"/>
          </a:p>
        </p:txBody>
      </p:sp>
      <p:pic>
        <p:nvPicPr>
          <p:cNvPr id="5" name="Picture 4" descr="WhatsApp Image 2025-09-20 at 9.42.17 P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3660" y="1691005"/>
            <a:ext cx="3691255" cy="47358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ar-EG" altLang="en-US"/>
              <a:t>بوست تسويقي</a:t>
            </a:r>
            <a:endParaRPr lang="ar-EG" altLang="en-US"/>
          </a:p>
        </p:txBody>
      </p:sp>
      <p:pic>
        <p:nvPicPr>
          <p:cNvPr id="4" name="Content Placeholder 3" descr="Screenshot (85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Media Buying Plan 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 b="1">
                <a:sym typeface="+mn-ea"/>
              </a:rPr>
              <a:t>goal of the plan :</a:t>
            </a:r>
            <a:endParaRPr lang="en-US" sz="2400" b="1"/>
          </a:p>
          <a:p>
            <a:pPr marL="0" indent="0">
              <a:buNone/>
            </a:pPr>
            <a:r>
              <a:rPr lang="en-US" sz="2400">
                <a:sym typeface="+mn-ea"/>
              </a:rPr>
              <a:t>1- engagment 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2- increase the number of followers 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sym typeface="+mn-ea"/>
              </a:rPr>
              <a:t>Targeted audiance: </a:t>
            </a:r>
            <a:endParaRPr lang="en-US" sz="2400" b="1"/>
          </a:p>
          <a:p>
            <a:pPr marL="0" indent="0">
              <a:buNone/>
            </a:pPr>
            <a:r>
              <a:rPr lang="en-US" sz="2400">
                <a:sym typeface="+mn-ea"/>
              </a:rPr>
              <a:t>age: 18 - 50 years 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location: cairo-  alexandria- upper egypt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ym typeface="+mn-ea"/>
              </a:rPr>
              <a:t>interest : health oriented, obesity, sports </a:t>
            </a:r>
            <a:endParaRPr lang="en-US" sz="2400" b="1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channels: facebook ads (reels, video, infographics, carousal )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types of campaigns: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1- engagment :(contest, posts) 30%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2- increase number of followers (carousal, video, posts) 70%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Budget: 1200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ar-EG">
                <a:sym typeface="+mn-ea"/>
              </a:rPr>
              <a:t>1-</a:t>
            </a:r>
            <a:r>
              <a:rPr lang="ar-EG" altLang="en-US">
                <a:sym typeface="+mn-ea"/>
              </a:rPr>
              <a:t> </a:t>
            </a:r>
            <a:r>
              <a:rPr lang="en-US" altLang="en-US">
                <a:sym typeface="+mn-ea"/>
              </a:rPr>
              <a:t>engaqgment :30% (400 EGP)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2- increase followers : 70%(800 EGP)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the content :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1- reels and videos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2- quiz and medical Q&amp;A posts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3- short story about patients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4- snack content : myth vs fact 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1st campagin 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88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9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94475" y="690245"/>
            <a:ext cx="5597525" cy="5156200"/>
          </a:xfrm>
          <a:prstGeom prst="rect">
            <a:avLst/>
          </a:prstGeom>
        </p:spPr>
      </p:pic>
      <p:pic>
        <p:nvPicPr>
          <p:cNvPr id="5" name="Picture 4" descr="Screenshot (9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0880"/>
            <a:ext cx="6226175" cy="5156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89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71895" y="364490"/>
            <a:ext cx="5529580" cy="6341745"/>
          </a:xfrm>
          <a:prstGeom prst="rect">
            <a:avLst/>
          </a:prstGeom>
        </p:spPr>
      </p:pic>
      <p:pic>
        <p:nvPicPr>
          <p:cNvPr id="5" name="Picture 4" descr="Screenshot (9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35" y="364490"/>
            <a:ext cx="5454015" cy="634174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94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88430" y="584200"/>
            <a:ext cx="5431790" cy="6013450"/>
          </a:xfrm>
          <a:prstGeom prst="rect">
            <a:avLst/>
          </a:prstGeom>
        </p:spPr>
      </p:pic>
      <p:pic>
        <p:nvPicPr>
          <p:cNvPr id="6" name="Picture 5" descr="Screenshot (9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35" y="583565"/>
            <a:ext cx="4909185" cy="601408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96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06490" y="364490"/>
            <a:ext cx="5985510" cy="5674995"/>
          </a:xfrm>
          <a:prstGeom prst="rect">
            <a:avLst/>
          </a:prstGeom>
        </p:spPr>
      </p:pic>
      <p:pic>
        <p:nvPicPr>
          <p:cNvPr id="5" name="Picture 4" descr="Screenshot (9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" y="365125"/>
            <a:ext cx="5387975" cy="631888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SEO Plan</a:t>
            </a:r>
            <a:endParaRPr lang="en-US" altLang="en-US"/>
          </a:p>
        </p:txBody>
      </p:sp>
      <p:pic>
        <p:nvPicPr>
          <p:cNvPr id="7" name="Content Placeholder 6" descr="WhatsApp Image 2025-11-29 at 10.25.02 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48055" y="1898015"/>
            <a:ext cx="102946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website </a:t>
            </a:r>
            <a:endParaRPr lang="en-US" altLang="en-US"/>
          </a:p>
        </p:txBody>
      </p:sp>
      <p:pic>
        <p:nvPicPr>
          <p:cNvPr id="4" name="Content Placeholder 3" descr="Screenshot (113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39610" y="363855"/>
            <a:ext cx="4913630" cy="6069965"/>
          </a:xfrm>
          <a:prstGeom prst="rect">
            <a:avLst/>
          </a:prstGeom>
        </p:spPr>
      </p:pic>
      <p:pic>
        <p:nvPicPr>
          <p:cNvPr id="5" name="Picture 4" descr="Screenshot (11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" y="1876425"/>
            <a:ext cx="6042025" cy="455739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232535" y="16294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https://sites.google.com/view/medicalcompass/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Screenshot (114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81545" y="364490"/>
            <a:ext cx="4736465" cy="6053455"/>
          </a:xfrm>
          <a:prstGeom prst="rect">
            <a:avLst/>
          </a:prstGeom>
        </p:spPr>
      </p:pic>
      <p:pic>
        <p:nvPicPr>
          <p:cNvPr id="5" name="Picture 4" descr="Screenshot (11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15" y="365125"/>
            <a:ext cx="6247765" cy="61239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5" descr="Screenshot (116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/>
              <a:t>Performance Analysis of "The Medical Compass" Page After Advertising Campaign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 algn="l">
              <a:buNone/>
            </a:pPr>
            <a:r>
              <a:rPr lang="en-US" altLang="en-US" sz="2300"/>
              <a:t>Following the execution of the paid advertisement campaign on the Facebook platform, the page witnessed a noticeable rise in overall performance and audience engagement, despite the campaign being implemented with a relatively limited budget.</a:t>
            </a:r>
            <a:endParaRPr lang="en-US" altLang="en-US" sz="2300"/>
          </a:p>
          <a:p>
            <a:pPr marL="0" indent="0" algn="l">
              <a:buNone/>
            </a:pPr>
            <a:r>
              <a:rPr lang="en-US" altLang="en-US" sz="2300" b="1"/>
              <a:t>Key Results:</a:t>
            </a:r>
            <a:endParaRPr lang="en-US" altLang="en-US" sz="2300" b="1"/>
          </a:p>
          <a:p>
            <a:pPr marL="0" indent="0" algn="l">
              <a:buNone/>
            </a:pPr>
            <a:r>
              <a:rPr lang="en-US" altLang="en-US" sz="2300"/>
              <a:t>Follower Growth: The number of followers increased from 90 to 110 followers within a short period.</a:t>
            </a:r>
            <a:endParaRPr lang="en-US" altLang="en-US" sz="2300"/>
          </a:p>
          <a:p>
            <a:pPr marL="0" indent="0" algn="l">
              <a:buNone/>
            </a:pPr>
            <a:r>
              <a:rPr lang="en-US" altLang="en-US" sz="2300"/>
              <a:t>Increased Engagement: The engagement rate significantly increased, with some Reels reaching over 600 views.</a:t>
            </a:r>
            <a:endParaRPr lang="en-US" altLang="en-US" sz="2300"/>
          </a:p>
          <a:p>
            <a:pPr marL="0" indent="0" algn="l">
              <a:buNone/>
            </a:pPr>
            <a:r>
              <a:rPr lang="en-US" altLang="en-US" sz="2300"/>
              <a:t>Post Virality: Posts transitioned from having 0 shares to achieving up to 10 shares per post.</a:t>
            </a:r>
            <a:endParaRPr lang="en-US" altLang="en-US" sz="2300"/>
          </a:p>
          <a:p>
            <a:pPr marL="0" indent="0" algn="l">
              <a:buNone/>
            </a:pPr>
            <a:r>
              <a:rPr lang="en-US" altLang="en-US" sz="2300"/>
              <a:t>Interaction Boost: Comments and likes clearly and noticeably increased.</a:t>
            </a:r>
            <a:endParaRPr lang="en-US" altLang="en-US" sz="2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ar-EG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Initial data indicates that the most engaged segment is women aged 25 to 45, due to the nature of the medical services presented on the page.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Conclusion: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advertising campaign demonstrates that, despite the limited budget, it achieved positive results and significantly impacted the audience's brand awareness. This marks a successful step towards building a stronger digital presence for "The Medical Compass."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Recommendation :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670"/>
            <a:ext cx="10515600" cy="4626610"/>
          </a:xfrm>
        </p:spPr>
        <p:txBody>
          <a:bodyPr>
            <a:noAutofit/>
          </a:bodyPr>
          <a:p>
            <a:pPr marL="0" indent="0" algn="l">
              <a:buNone/>
            </a:pPr>
            <a:r>
              <a:rPr lang="en-US" altLang="en-US" sz="2300"/>
              <a:t>Based on the analysis results, we have reached a set of recommendations that can further support the growth of the page: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/>
              <a:t>Continue Paid Campaigns: Maintain momentum by continuing running sponsored (paid) campaigns.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/>
              <a:t>Increase Visual Content Focus: Focus heavily on visual content such as videos and Reels, as they achieved high view rates and engagement.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/>
              <a:t>Implement Sustainable Budgeting: Design campaigns with a simple yet continuous budget, ensuring sustained presence rather than large, sporadic efforts.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/>
              <a:t>Optimize Page Call-to-Action (CTA): Improve "The Medical Compass" page by adding a direct booking or inquiry button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/>
              <a:t>Prioritize Target Audience Content: Emphasize medical awareness content that specifically appeals to the most engaged demographic (women aged 25–45).</a:t>
            </a:r>
            <a:endParaRPr lang="en-US" altLang="en-US" sz="2300"/>
          </a:p>
          <a:p>
            <a:pPr marL="342900" indent="-342900" algn="l">
              <a:buAutoNum type="arabicPeriod"/>
            </a:pPr>
            <a:r>
              <a:rPr lang="en-US" altLang="en-US" sz="2300"/>
              <a:t>Monthly Performance Measurement: Measure and analyze results monthly to accurately identify the most effective content types and optimize future strategy</a:t>
            </a:r>
            <a:endParaRPr lang="en-US" altLang="en-US" sz="23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21"/>
  <p:tag name="TABLE_ENDDRAG_RECT" val="66*143*828*321"/>
</p:tagLst>
</file>

<file path=ppt/tags/tag2.xml><?xml version="1.0" encoding="utf-8"?>
<p:tagLst xmlns:p="http://schemas.openxmlformats.org/presentationml/2006/main">
  <p:tag name="TABLE_ENDDRAG_ORIGIN_RECT" val="828*404"/>
  <p:tag name="TABLE_ENDDRAG_RECT" val="66*117*828*4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11789</Words>
  <Application>WPS Presentation</Application>
  <PresentationFormat>Widescreen</PresentationFormat>
  <Paragraphs>436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Arial</vt:lpstr>
      <vt:lpstr>SimSun</vt:lpstr>
      <vt:lpstr>Wingdings</vt:lpstr>
      <vt:lpstr>Eastman Grotesque</vt:lpstr>
      <vt:lpstr>Segoe Print</vt:lpstr>
      <vt:lpstr>Calibri</vt:lpstr>
      <vt:lpstr>Book Antiqua</vt:lpstr>
      <vt:lpstr>Calibri Light</vt:lpstr>
      <vt:lpstr>Microsoft YaHei</vt:lpstr>
      <vt:lpstr>Arial Unicode MS</vt:lpstr>
      <vt:lpstr>XM Vahid Bold</vt:lpstr>
      <vt:lpstr>Times New Roman</vt:lpstr>
      <vt:lpstr>Office Theme</vt:lpstr>
      <vt:lpstr>Medical Compass </vt:lpstr>
      <vt:lpstr>Introduction</vt:lpstr>
      <vt:lpstr>Business Model Canvas (BMC)</vt:lpstr>
      <vt:lpstr>SMART Objectives :</vt:lpstr>
      <vt:lpstr>SWOT Analysis </vt:lpstr>
      <vt:lpstr>Marketing Mix:</vt:lpstr>
      <vt:lpstr>account analysis:</vt:lpstr>
      <vt:lpstr>PowerPoint 演示文稿</vt:lpstr>
      <vt:lpstr>PowerPoint 演示文稿</vt:lpstr>
      <vt:lpstr>PowerPoint 演示文稿</vt:lpstr>
      <vt:lpstr>PowerPoint 演示文稿</vt:lpstr>
      <vt:lpstr>Compatitve Analysis: </vt:lpstr>
      <vt:lpstr>sehatak</vt:lpstr>
      <vt:lpstr>Super Mama</vt:lpstr>
      <vt:lpstr>PowerPoint 演示文稿</vt:lpstr>
      <vt:lpstr>Segmentation and Buyer Persona </vt:lpstr>
      <vt:lpstr>Demographic Segmentation</vt:lpstr>
      <vt:lpstr>Geographical Segmentation </vt:lpstr>
      <vt:lpstr>Buyer Persona : Mother</vt:lpstr>
      <vt:lpstr>PowerPoint 演示文稿</vt:lpstr>
      <vt:lpstr>PowerPoint 演示文稿</vt:lpstr>
      <vt:lpstr>Content Plan</vt:lpstr>
      <vt:lpstr>Content Plan</vt:lpstr>
      <vt:lpstr>Content Plan </vt:lpstr>
      <vt:lpstr>PowerPoint 演示文稿</vt:lpstr>
      <vt:lpstr>بوست تفاعلى عن الصحة النفسية </vt:lpstr>
      <vt:lpstr>PowerPoint 演示文稿</vt:lpstr>
      <vt:lpstr>بوست تسويقي</vt:lpstr>
      <vt:lpstr>Media Buying Plan </vt:lpstr>
      <vt:lpstr>PowerPoint 演示文稿</vt:lpstr>
      <vt:lpstr>Budget: 1200</vt:lpstr>
      <vt:lpstr>1st campagin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SEO Plan</vt:lpstr>
      <vt:lpstr>website </vt:lpstr>
      <vt:lpstr>PowerPoint 演示文稿</vt:lpstr>
      <vt:lpstr>PowerPoint 演示文稿</vt:lpstr>
      <vt:lpstr>Performance Analysis of "The Medical Compass" Page After Advertising Campaign</vt:lpstr>
      <vt:lpstr>PowerPoint 演示文稿</vt:lpstr>
      <vt:lpstr>Recommendation 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WPS_1663753349</cp:lastModifiedBy>
  <cp:revision>7</cp:revision>
  <dcterms:created xsi:type="dcterms:W3CDTF">2025-07-23T00:59:00Z</dcterms:created>
  <dcterms:modified xsi:type="dcterms:W3CDTF">2025-11-29T08:33:20Z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2C1FA81560014B1FBD221FFF7973D777_11</vt:lpwstr>
  </property>
  <property fmtid="{D5CDD505-2E9C-101B-9397-08002B2CF9AE}" pid="3" name="KSOProductBuildVer">
    <vt:lpwstr>1033-12.2.0.23155</vt:lpwstr>
  </property>
</Properties>
</file>